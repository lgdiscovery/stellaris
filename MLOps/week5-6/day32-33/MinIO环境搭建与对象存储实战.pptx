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slides/slide30.xml" Type="http://schemas.openxmlformats.org/officeDocument/2006/relationships/slide"/><Relationship Id="rId39" Target="slides/slide31.xml" Type="http://schemas.openxmlformats.org/officeDocument/2006/relationships/slide"/><Relationship Id="rId4" Target="slideMasters/slideMaster1.xml" Type="http://schemas.openxmlformats.org/officeDocument/2006/relationships/slideMaster"/><Relationship Id="rId40" Target="slides/slide32.xml" Type="http://schemas.openxmlformats.org/officeDocument/2006/relationships/slide"/><Relationship Id="rId41" Target="slides/slide33.xml" Type="http://schemas.openxmlformats.org/officeDocument/2006/relationships/slide"/><Relationship Id="rId42" Target="slides/slide34.xml" Type="http://schemas.openxmlformats.org/officeDocument/2006/relationships/slide"/><Relationship Id="rId43" Target="slides/slide35.xml" Type="http://schemas.openxmlformats.org/officeDocument/2006/relationships/slide"/><Relationship Id="rId44" Target="slides/slide36.xml" Type="http://schemas.openxmlformats.org/officeDocument/2006/relationships/slide"/><Relationship Id="rId45" Target="notesSlides/notesSlide1.xml" Type="http://schemas.openxmlformats.org/officeDocument/2006/relationships/notesSlide"/><Relationship Id="rId46" Target="notesSlides/notesSlide2.xml" Type="http://schemas.openxmlformats.org/officeDocument/2006/relationships/notesSlide"/><Relationship Id="rId47" Target="notesSlides/notesSlide3.xml" Type="http://schemas.openxmlformats.org/officeDocument/2006/relationships/notesSlide"/><Relationship Id="rId48" Target="notesSlides/notesSlide4.xml" Type="http://schemas.openxmlformats.org/officeDocument/2006/relationships/notesSlide"/><Relationship Id="rId49" Target="notesSlides/notesSlide5.xml" Type="http://schemas.openxmlformats.org/officeDocument/2006/relationships/notesSlide"/><Relationship Id="rId50" Target="notesSlides/notesSlide6.xml" Type="http://schemas.openxmlformats.org/officeDocument/2006/relationships/notesSlide"/><Relationship Id="rId51" Target="notesSlides/notesSlide7.xml" Type="http://schemas.openxmlformats.org/officeDocument/2006/relationships/notesSlide"/><Relationship Id="rId52" Target="notesSlides/notesSlide8.xml" Type="http://schemas.openxmlformats.org/officeDocument/2006/relationships/notesSlide"/><Relationship Id="rId53" Target="notesSlides/notesSlide9.xml" Type="http://schemas.openxmlformats.org/officeDocument/2006/relationships/notesSlide"/><Relationship Id="rId54" Target="notesSlides/notesSlide10.xml" Type="http://schemas.openxmlformats.org/officeDocument/2006/relationships/notesSlide"/><Relationship Id="rId55" Target="notesSlides/notesSlide11.xml" Type="http://schemas.openxmlformats.org/officeDocument/2006/relationships/notesSlide"/><Relationship Id="rId56" Target="notesSlides/notesSlide12.xml" Type="http://schemas.openxmlformats.org/officeDocument/2006/relationships/notesSlide"/><Relationship Id="rId57" Target="notesSlides/notesSlide13.xml" Type="http://schemas.openxmlformats.org/officeDocument/2006/relationships/notesSlide"/><Relationship Id="rId58" Target="notesSlides/notesSlide14.xml" Type="http://schemas.openxmlformats.org/officeDocument/2006/relationships/notesSlide"/><Relationship Id="rId59" Target="notesSlides/notesSlide15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16.xml" Type="http://schemas.openxmlformats.org/officeDocument/2006/relationships/notesSlide"/><Relationship Id="rId61" Target="notesSlides/notesSlide17.xml" Type="http://schemas.openxmlformats.org/officeDocument/2006/relationships/notesSlide"/><Relationship Id="rId62" Target="notesSlides/notesSlide18.xml" Type="http://schemas.openxmlformats.org/officeDocument/2006/relationships/notesSlide"/><Relationship Id="rId63" Target="notesSlides/notesSlide19.xml" Type="http://schemas.openxmlformats.org/officeDocument/2006/relationships/notesSlide"/><Relationship Id="rId64" Target="notesSlides/notesSlide20.xml" Type="http://schemas.openxmlformats.org/officeDocument/2006/relationships/notesSlide"/><Relationship Id="rId65" Target="notesSlides/notesSlide21.xml" Type="http://schemas.openxmlformats.org/officeDocument/2006/relationships/notesSlide"/><Relationship Id="rId66" Target="notesSlides/notesSlide22.xml" Type="http://schemas.openxmlformats.org/officeDocument/2006/relationships/notesSlide"/><Relationship Id="rId67" Target="notesSlides/notesSlide23.xml" Type="http://schemas.openxmlformats.org/officeDocument/2006/relationships/notesSlide"/><Relationship Id="rId68" Target="notesSlides/notesSlide24.xml" Type="http://schemas.openxmlformats.org/officeDocument/2006/relationships/notesSlide"/><Relationship Id="rId69" Target="notesSlides/notesSlide25.xml" Type="http://schemas.openxmlformats.org/officeDocument/2006/relationships/notesSlide"/><Relationship Id="rId7" Target="theme/theme2.xml" Type="http://schemas.openxmlformats.org/officeDocument/2006/relationships/theme"/><Relationship Id="rId70" Target="notesSlides/notesSlide26.xml" Type="http://schemas.openxmlformats.org/officeDocument/2006/relationships/notesSlide"/><Relationship Id="rId71" Target="notesSlides/notesSlide27.xml" Type="http://schemas.openxmlformats.org/officeDocument/2006/relationships/notesSlide"/><Relationship Id="rId72" Target="notesSlides/notesSlide28.xml" Type="http://schemas.openxmlformats.org/officeDocument/2006/relationships/notesSlide"/><Relationship Id="rId73" Target="notesSlides/notesSlide29.xml" Type="http://schemas.openxmlformats.org/officeDocument/2006/relationships/notesSlide"/><Relationship Id="rId74" Target="notesSlides/notesSlide30.xml" Type="http://schemas.openxmlformats.org/officeDocument/2006/relationships/notesSlide"/><Relationship Id="rId75" Target="notesSlides/notesSlide31.xml" Type="http://schemas.openxmlformats.org/officeDocument/2006/relationships/notesSlide"/><Relationship Id="rId76" Target="notesSlides/notesSlide32.xml" Type="http://schemas.openxmlformats.org/officeDocument/2006/relationships/notesSlide"/><Relationship Id="rId77" Target="notesSlides/notesSlide33.xml" Type="http://schemas.openxmlformats.org/officeDocument/2006/relationships/notesSlide"/><Relationship Id="rId78" Target="notesSlides/notesSlide34.xml" Type="http://schemas.openxmlformats.org/officeDocument/2006/relationships/notesSlide"/><Relationship Id="rId79" Target="notesSlides/notesSlide35.xml" Type="http://schemas.openxmlformats.org/officeDocument/2006/relationships/notesSlide"/><Relationship Id="rId8" Target="slideMasters/slideMaster2.xml" Type="http://schemas.openxmlformats.org/officeDocument/2006/relationships/slideMaster"/><Relationship Id="rId80" Target="notesSlides/notesSlide36.xml" Type="http://schemas.openxmlformats.org/officeDocument/2006/relationships/notesSlide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大家好，欢迎参加本次分享。今天我们将探讨一个在MLOps流程中非常实用的组合——MinIO与MLflow。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我们将学习如何将MLflow的模型文件存储到MinIO中，实现模型资产的统一管理和持久化存储。这个方案能有效解决模型文件分散、版本混乱的问题，让你的机器学习工作流更加高效和可靠。让我们开始吧！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五个部分。首先，我们会分析当前模型管理面临的挑战。接着，我们将介绍MLflow与MinIO结合的整体架构和核心原理。之后，我们会进入实战环节，一步步教大家如何部署和配置环境。然后，我们会验证部署效果并学习核心操作。最后，我们会总结这个方案带来的核心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首先，我们来看第一章，探讨在当前的机器学习实践中，模型管理普遍存在的痛点和挑战。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机器学习项目中，我们经常会遇到这些问题：模型文件到处都是，版本管理混乱，本地磁盘不够用，团队之间共享模型非常麻烦，而且很难把模型的参数、指标和文件关联起来。这些痛点严重影响了我们的工作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为了解决这些问题，我们引入了专业的工具。第二章，我们将介绍MLflow和MinIO协同工作的整体架构和核心原理。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解决方案是让专业的工具做专业的事。MLflow负责管理实验的元数据，比如参数、指标，它提供了一个统一的视图。而MinIO则负责实际存储模型文件，它提供了高性能和高可靠性的对象存储能力。两者结合，实现了模型管理的现代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理论部分结束，现在我们进入最关键的实战环节。第三章，我们将一步步教大家如何部署和配置这个环境。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最关键的一步就是配置环境变量。这些变量告诉MLflow如何连接到MinIO，包括MinIO的地址、端口以及访问凭证。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请确保在启动MLflow服务的终端中正确设置这些变量，特别是AWS_ACCESS_KEY_ID和AWS_SECRET_ACCESS_KEY，这是身份验证的关键。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另外，请注意MLFLOW_S3_ENDPOINT_URL的端口号是9000，这是MinIO的API端口，不要填错成控制台端口（通常是9090）。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最后，底部的忽略TLS验证指令仅用于开发环境，生产环境请务必配置有效的证书。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配置完成后，我们就可以启动MLflow服务了。这个命令中，--backend-store-uri指定了元数据的存储位置，而--default-artifact-root则指定了模型文件的存储位置，这里我们直接指向了MinIO的存储桶。启动后，MLflow就会将所有模型文件自动上传到MinIO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服务启动后，我们如何验证效果呢？第四章，我们将通过MLflow和MinIO的控制台来确认模型文件是否被正确存储，并学习如何加载模型。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访问MLflow的UI界面。在这里，我们可以看到我们的实验记录，包括参数和指标。最关键的是，在Artifacts部分，我们可以看到模型文件的存储路径已经变成了S3路径，这表明MLflow已经成功将模型文件交给了MinIO管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接下来，我们登录MinIO的控制台。进入我们创建的mlflow-models桶，可以看到MLflow已经自动将模型文件、conda环境文件等都上传到了这里。这就证明我们的配置是完全成功的。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最后，我们来总结一下，将MLflow和MinIO结合使用，究竟能为我们的MLOps流程带来哪些核心价值。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简单来说，二者的深度集成打通了从模型实验、版本控制到最终部署存储的全链路。这不仅让我们的模型数据资产有了可靠的归宿，更通过标准化的流程，极大地降低了团队的运维负担，让大家能更专注于模型本身的优化和业务价值的产出。这就是我们构建这套系统的核心初衷与价值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来说，这个方案的价值是巨大的。它实现了模型资产的中心化存储，促进了团队协作，并且具有很好的扩展性。通过将MLflow和MinIO解耦，我们让每个工具都发挥其最大优势，最终实现了对模型全生命周期的有效管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我的分享到此结束，感谢大家的聆听。现在是问答环节，大家有任何关于MLflow和MinIO结合使用的问题，都可以提出来，我们一起交流探讨。谢谢！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大家好，欢迎参加本次分享。今天我们将深入探讨一个在MLOps领域至关重要的工具——MinIO。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随着机器学习项目的复杂性和数据量不断增长，如何高效、可靠地存储和管理模型文件、数据集等非结构化数据，成为了一个核心挑战。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本次分享将从理论到实践，带大家全面了解MinIO这款高性能对象存储系统，并掌握其在CentOS环境下的搭建、管理以及与Python集成的实战技巧。让我们开始吧！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七个部分。首先，我们会分析当前MLOps流程中数据存储面临的挑战，并引出对象存储的解决方案。接着，我们将详细介绍MinIO的核心特性及其在MLOps中的关键角色。之后，我们会进入实战环节，一步步教大家如何在CentOS上安装和配置MinIO，如何创建和管理存储桶，以及如何使用Python SDK进行模型文件的操作。最后，我们会介绍一些进阶管理技巧和最佳实践，并总结MinIO为MLOps带来的核心价值。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首先，我们来看第一章，探讨在MLOps实践中，数据存储方面遇到的挑战，以及为什么对象存储成为了应对这些挑战的理想选择。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机器学习项目中，我们经常需要处理大量的非结构化数据，比如模型文件和数据集。传统的存储方案，如文件存储和块存储，在面对这些需求时显得力不从心。文件存储在高并发读写下性能会下降，扩展也很困难。而块存储则管理复杂，成本高，并且不适合直接通过网络访问。这些瓶颈限制了机器学习工作流的效率和可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什么是对象存储？它是一种全新的存储理念，将数据、元数据和唯一标识符打包成一个“对象”。它的优势非常明显：首先，扁平的命名空间让数据查找非常快；其次，它可以无限扩展，轻松应对海量数据；再者，它内置了高可用机制，保证数据安全；最重要的是，它兼容S3这个行业标准API，让集成变得非常简单。因此，对象存储成为了MLOps流程中管理非结构化数据的最佳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接下来第二章，我们将聚焦于今天的主角——MinIO。它被誉为“可以部署在自己服务器上的AWS S3”，是一款为MLOps量身打造的高性能对象存储系统。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MinIO是一个用Go语言编写的高性能对象存储，它完全兼容S3 API，这意味着你可以把它看作是私有化部署的S3服务。它的特点非常突出：速度极快，号称是全球最快的对象存储之一；生态兼容性极好，可以无缝对接我们熟悉的PyTorch、TensorFlow等框架；部署极其简单，一个二进制文件就能搞定；同时还提供了企业级的数据保护功能，如纠删码和加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理论部分结束，现在我们进入实战环节。第三章，我们将详细讲解如何在CentOS系统上准备环境并安装MinIO。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安装过程非常简单。首先，我们通过wget命令下载MinIO的二进制文件，赋予执行权限并移动到系统路径。然后，创建一个目录来存放MinIO的数据。最后，通过设置环境变量来配置管理员账号和密码。这里要注意，密码长度至少需要8个字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配置完成后，我们就可以启动MinIO了。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我们可以用前台模式启动，方便调试，但更推荐使用nohup命令让它在后台常驻运行。启动命令中，我们指定了数据目录和Web控制台的端口9001。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启动成功后，打开浏览器，访问服务器IP加9001端口，就可以看到MinIO的登录界面了。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成功登录后，我们来看第四章，学习MinIO最核心的操作——如何创建和管理存储桶，也就是Bucket。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创建存储桶的过程非常直观。在控制台左侧找到Buckets，点击创建，输入一个唯一的名称，比如ml-models。这里建议开启版本控制，以防误操作。一个好的命名策略对于管理模型资产至关重要，我们可以按项目、环境或者数据类型来划分不同的Bucket，让整个存储结构更加清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有了存储桶，我们如何通过代码来操作文件呢？第五章，我们将进行实战演练，使用Python SDK来上传和读取模型文件。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首先，我们需要安装minio这个Python包，这是使用SDK的基础。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然后，通过Minio客户端类初始化一个连接，这里需要传入服务器的IP地址、端口以及你的Access Key和Secret Key。注意在开发环境下，通常将secure参数设为False。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连接成功后，就可以使用fput_object方法，将本地的模型文件上传到指定的Bucket中。这个操作在模型训练完成后非常常用，可以将模型文件归档到统一的存储库中。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在部署推理服务时，我们需要从MinIO获取模型文件。这里展示了两种最常用的方式：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第一种是使用fget_object下载到本地文件系统，然后加载。这种方式的好处是文件会保存在本地，但会产生磁盘IO开销，速度相对较慢。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种，也是我们更推荐的方式，是使用get_object直接读取为字节流，然后通过BytesIO转换为文件对象，直接加载到内存中。这种方式完全避免了磁盘I/O，在高并发的推理场景下能显著提升模型加载的响应速度和吞吐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除了Python SDK，MinIO还提供了一个强大的命令行工具mc。第六章，我们将介绍一些常用的mc命令和企业级的最佳实践。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mc工具的使用也很简单，下载配置后，就可以用类似Linux命令的方式来操作MinIO。比如用mc ls查看桶列表，mc cp上传下载文件。在实际应用中，我们强烈建议启用版本控制，并设置生命周期策略来管理文件版本。同时，在生产环境中，一定要配置HTTPS来保证数据安全。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最后，我们来总结一下，将MinIO集成到MLOps流程中，究竟能带来哪些核心价值。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第一，数据可靠性。通过MinIO的高性能对象存储，我们实现了全链路的数据版本管控与容灾备份，确保了AI模型训练数据的安全与完整。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第二，流程自动化。它帮助我们将模型训练与部署流程标准化，减少了人工干预，提升了迭代速度。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第三，成本优化。MinIO支持存储资源的弹性伸缩，按需使用，有效节省了企业的基础设施成本。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第四，协作效率。让研发团队在数据访问和共享上实现了无缝衔接，打破了数据孤岛。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总而言之，MinIO是赋能MLOps全生命周期效能跃升的关键一环。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来说，MinIO为MLOps带来的价值是多方面的。它提供了一个统一的模型资产库，促进了团队协作和迭代。它保证了不同环境间的数据一致性，降低了长期存储成本，并确保了数据主权和安全。最重要的是，它与整个MLOps生态系统无缝集成，是构建现代化机器学习平台不可或缺的一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这里我们汇总了一些关键的数据和参数，方便大家快速查阅。包括默认的端口号、安全要求、存储开销以及性能基准等。这些信息对于实际部署和规划非常有帮助。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我的分享到此结束，感谢大家的聆听。现在是问答环节，大家有任何关于MinIO或MLOps存储的问题，都可以提出来，我们一起交流探讨。谢谢！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notesSlides/notesSlide2.xml" Type="http://schemas.openxmlformats.org/officeDocument/2006/relationships/notesSlide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2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notesSlides/notesSlide4.xml" Type="http://schemas.openxmlformats.org/officeDocument/2006/relationships/notesSlide"/><Relationship Id="rId2" Target="../media/image8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2.svg" Type="http://schemas.openxmlformats.org/officeDocument/2006/relationships/image"/><Relationship Id="rId11" Target="../notesSlides/notesSlide9.xml" Type="http://schemas.openxmlformats.org/officeDocument/2006/relationships/notesSlide"/><Relationship Id="rId2" Target="../media/image8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0.svg" Type="http://schemas.openxmlformats.org/officeDocument/2006/relationships/image"/><Relationship Id="rId11" Target="../media/image39.jpeg" Type="http://schemas.openxmlformats.org/officeDocument/2006/relationships/image"/><Relationship Id="rId12" Target="../notesSlides/notesSlide11.xml" Type="http://schemas.openxmlformats.org/officeDocument/2006/relationships/notesSlide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2.xml" Type="http://schemas.openxmlformats.org/officeDocument/2006/relationships/notesSlide"/><Relationship Id="rId2" Target="../media/image8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0.svg" Type="http://schemas.openxmlformats.org/officeDocument/2006/relationships/image"/><Relationship Id="rId11" Target="../media/image51.png" Type="http://schemas.openxmlformats.org/officeDocument/2006/relationships/image"/><Relationship Id="rId12" Target="../media/image52.svg" Type="http://schemas.openxmlformats.org/officeDocument/2006/relationships/image"/><Relationship Id="rId13" Target="../notesSlides/notesSlide14.xml" Type="http://schemas.openxmlformats.org/officeDocument/2006/relationships/notesSlide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3.jpe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6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Relationship Id="rId9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9.svg" Type="http://schemas.openxmlformats.org/officeDocument/2006/relationships/image"/><Relationship Id="rId11" Target="../media/image70.png" Type="http://schemas.openxmlformats.org/officeDocument/2006/relationships/image"/><Relationship Id="rId12" Target="../media/image71.svg" Type="http://schemas.openxmlformats.org/officeDocument/2006/relationships/image"/><Relationship Id="rId13" Target="../media/image72.png" Type="http://schemas.openxmlformats.org/officeDocument/2006/relationships/image"/><Relationship Id="rId14" Target="../media/image73.svg" Type="http://schemas.openxmlformats.org/officeDocument/2006/relationships/image"/><Relationship Id="rId15" Target="../media/image74.png" Type="http://schemas.openxmlformats.org/officeDocument/2006/relationships/image"/><Relationship Id="rId16" Target="../media/image75.svg" Type="http://schemas.openxmlformats.org/officeDocument/2006/relationships/image"/><Relationship Id="rId17" Target="../notesSlides/notesSlide17.xml" Type="http://schemas.openxmlformats.org/officeDocument/2006/relationships/notesSlide"/><Relationship Id="rId2" Target="../media/image63.jpeg" Type="http://schemas.openxmlformats.org/officeDocument/2006/relationships/image"/><Relationship Id="rId3" Target="../media/image64.png" Type="http://schemas.openxmlformats.org/officeDocument/2006/relationships/image"/><Relationship Id="rId4" Target="../media/image65.svg" Type="http://schemas.openxmlformats.org/officeDocument/2006/relationships/image"/><Relationship Id="rId5" Target="../media/image57.png" Type="http://schemas.openxmlformats.org/officeDocument/2006/relationships/image"/><Relationship Id="rId6" Target="../media/image58.svg" Type="http://schemas.openxmlformats.org/officeDocument/2006/relationships/image"/><Relationship Id="rId7" Target="../media/image66.png" Type="http://schemas.openxmlformats.org/officeDocument/2006/relationships/image"/><Relationship Id="rId8" Target="../media/image67.sv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3.jpeg" Type="http://schemas.openxmlformats.org/officeDocument/2006/relationships/imag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3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76.png" Type="http://schemas.openxmlformats.org/officeDocument/2006/relationships/image"/><Relationship Id="rId6" Target="../media/image77.svg" Type="http://schemas.openxmlformats.org/officeDocument/2006/relationships/image"/><Relationship Id="rId7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5.svg" Type="http://schemas.openxmlformats.org/officeDocument/2006/relationships/image"/><Relationship Id="rId11" Target="../media/image86.png" Type="http://schemas.openxmlformats.org/officeDocument/2006/relationships/image"/><Relationship Id="rId12" Target="../media/image87.svg" Type="http://schemas.openxmlformats.org/officeDocument/2006/relationships/image"/><Relationship Id="rId13" Target="../media/image88.png" Type="http://schemas.openxmlformats.org/officeDocument/2006/relationships/image"/><Relationship Id="rId14" Target="../media/image89.svg" Type="http://schemas.openxmlformats.org/officeDocument/2006/relationships/image"/><Relationship Id="rId15" Target="../notesSlides/notesSlide20.xml" Type="http://schemas.openxmlformats.org/officeDocument/2006/relationships/notesSlide"/><Relationship Id="rId2" Target="../media/image63.jpeg" Type="http://schemas.openxmlformats.org/officeDocument/2006/relationships/image"/><Relationship Id="rId3" Target="../media/image78.png" Type="http://schemas.openxmlformats.org/officeDocument/2006/relationships/image"/><Relationship Id="rId4" Target="../media/image79.svg" Type="http://schemas.openxmlformats.org/officeDocument/2006/relationships/image"/><Relationship Id="rId5" Target="../media/image80.png" Type="http://schemas.openxmlformats.org/officeDocument/2006/relationships/image"/><Relationship Id="rId6" Target="../media/image81.svg" Type="http://schemas.openxmlformats.org/officeDocument/2006/relationships/image"/><Relationship Id="rId7" Target="../media/image82.png" Type="http://schemas.openxmlformats.org/officeDocument/2006/relationships/image"/><Relationship Id="rId8" Target="../media/image83.sv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3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7.png" Type="http://schemas.openxmlformats.org/officeDocument/2006/relationships/image"/><Relationship Id="rId11" Target="../media/image98.svg" Type="http://schemas.openxmlformats.org/officeDocument/2006/relationships/image"/><Relationship Id="rId12" Target="../notesSlides/notesSlide22.xml" Type="http://schemas.openxmlformats.org/officeDocument/2006/relationships/notesSlide"/><Relationship Id="rId2" Target="../media/image63.jpeg" Type="http://schemas.openxmlformats.org/officeDocument/2006/relationships/image"/><Relationship Id="rId3" Target="../media/image90.jpeg" Type="http://schemas.openxmlformats.org/officeDocument/2006/relationships/image"/><Relationship Id="rId4" Target="../media/image91.png" Type="http://schemas.openxmlformats.org/officeDocument/2006/relationships/image"/><Relationship Id="rId5" Target="../media/image92.svg" Type="http://schemas.openxmlformats.org/officeDocument/2006/relationships/image"/><Relationship Id="rId6" Target="../media/image93.png" Type="http://schemas.openxmlformats.org/officeDocument/2006/relationships/image"/><Relationship Id="rId7" Target="../media/image94.svg" Type="http://schemas.openxmlformats.org/officeDocument/2006/relationships/image"/><Relationship Id="rId8" Target="../media/image95.png" Type="http://schemas.openxmlformats.org/officeDocument/2006/relationships/image"/><Relationship Id="rId9" Target="../media/image9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3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3.jpeg" Type="http://schemas.openxmlformats.org/officeDocument/2006/relationships/image"/><Relationship Id="rId3" Target="../media/image99.png" Type="http://schemas.openxmlformats.org/officeDocument/2006/relationships/image"/><Relationship Id="rId4" Target="../media/image100.svg" Type="http://schemas.openxmlformats.org/officeDocument/2006/relationships/image"/><Relationship Id="rId5" Target="../media/image101.png" Type="http://schemas.openxmlformats.org/officeDocument/2006/relationships/image"/><Relationship Id="rId6" Target="../media/image102.svg" Type="http://schemas.openxmlformats.org/officeDocument/2006/relationships/image"/><Relationship Id="rId7" Target="../media/image103.png" Type="http://schemas.openxmlformats.org/officeDocument/2006/relationships/image"/><Relationship Id="rId8" Target="../media/image104.svg" Type="http://schemas.openxmlformats.org/officeDocument/2006/relationships/image"/><Relationship Id="rId9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3.jpeg" Type="http://schemas.openxmlformats.org/officeDocument/2006/relationships/image"/><Relationship Id="rId3" Target="../media/image105.png" Type="http://schemas.openxmlformats.org/officeDocument/2006/relationships/image"/><Relationship Id="rId4" Target="../media/image106.svg" Type="http://schemas.openxmlformats.org/officeDocument/2006/relationships/image"/><Relationship Id="rId5" Target="../media/image57.png" Type="http://schemas.openxmlformats.org/officeDocument/2006/relationships/image"/><Relationship Id="rId6" Target="../media/image58.svg" Type="http://schemas.openxmlformats.org/officeDocument/2006/relationships/image"/><Relationship Id="rId7" Target="../media/image107.png" Type="http://schemas.openxmlformats.org/officeDocument/2006/relationships/image"/><Relationship Id="rId8" Target="../media/image108.svg" Type="http://schemas.openxmlformats.org/officeDocument/2006/relationships/image"/><Relationship Id="rId9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3.jpeg" Type="http://schemas.openxmlformats.org/officeDocument/2006/relationships/image"/><Relationship Id="rId3" Target="../media/image109.png" Type="http://schemas.openxmlformats.org/officeDocument/2006/relationships/image"/><Relationship Id="rId4" Target="../media/image110.svg" Type="http://schemas.openxmlformats.org/officeDocument/2006/relationships/image"/><Relationship Id="rId5" Target="../media/image111.png" Type="http://schemas.openxmlformats.org/officeDocument/2006/relationships/image"/><Relationship Id="rId6" Target="../media/image112.svg" Type="http://schemas.openxmlformats.org/officeDocument/2006/relationships/image"/><Relationship Id="rId7" Target="../media/image66.png" Type="http://schemas.openxmlformats.org/officeDocument/2006/relationships/image"/><Relationship Id="rId8" Target="../media/image67.svg" Type="http://schemas.openxmlformats.org/officeDocument/2006/relationships/image"/><Relationship Id="rId9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7.svg" Type="http://schemas.openxmlformats.org/officeDocument/2006/relationships/image"/><Relationship Id="rId11" Target="../media/image119.png" Type="http://schemas.openxmlformats.org/officeDocument/2006/relationships/image"/><Relationship Id="rId12" Target="../media/image120.svg" Type="http://schemas.openxmlformats.org/officeDocument/2006/relationships/image"/><Relationship Id="rId13" Target="../media/image68.png" Type="http://schemas.openxmlformats.org/officeDocument/2006/relationships/image"/><Relationship Id="rId14" Target="../media/image69.svg" Type="http://schemas.openxmlformats.org/officeDocument/2006/relationships/image"/><Relationship Id="rId15" Target="../media/image121.png" Type="http://schemas.openxmlformats.org/officeDocument/2006/relationships/image"/><Relationship Id="rId16" Target="../media/image122.svg" Type="http://schemas.openxmlformats.org/officeDocument/2006/relationships/image"/><Relationship Id="rId17" Target="../media/image59.png" Type="http://schemas.openxmlformats.org/officeDocument/2006/relationships/image"/><Relationship Id="rId18" Target="../media/image60.svg" Type="http://schemas.openxmlformats.org/officeDocument/2006/relationships/image"/><Relationship Id="rId19" Target="../media/image123.jpeg" Type="http://schemas.openxmlformats.org/officeDocument/2006/relationships/image"/><Relationship Id="rId2" Target="../media/image63.jpeg" Type="http://schemas.openxmlformats.org/officeDocument/2006/relationships/image"/><Relationship Id="rId20" Target="../notesSlides/notesSlide27.xml" Type="http://schemas.openxmlformats.org/officeDocument/2006/relationships/notesSlide"/><Relationship Id="rId3" Target="../media/image113.png" Type="http://schemas.openxmlformats.org/officeDocument/2006/relationships/image"/><Relationship Id="rId4" Target="../media/image114.svg" Type="http://schemas.openxmlformats.org/officeDocument/2006/relationships/image"/><Relationship Id="rId5" Target="../media/image115.png" Type="http://schemas.openxmlformats.org/officeDocument/2006/relationships/image"/><Relationship Id="rId6" Target="../media/image116.svg" Type="http://schemas.openxmlformats.org/officeDocument/2006/relationships/image"/><Relationship Id="rId7" Target="../media/image117.png" Type="http://schemas.openxmlformats.org/officeDocument/2006/relationships/image"/><Relationship Id="rId8" Target="../media/image118.sv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3.jpeg" Type="http://schemas.openxmlformats.org/officeDocument/2006/relationships/image"/><Relationship Id="rId3" Target="../media/image105.png" Type="http://schemas.openxmlformats.org/officeDocument/2006/relationships/image"/><Relationship Id="rId4" Target="../media/image106.svg" Type="http://schemas.openxmlformats.org/officeDocument/2006/relationships/image"/><Relationship Id="rId5" Target="../media/image124.png" Type="http://schemas.openxmlformats.org/officeDocument/2006/relationships/image"/><Relationship Id="rId6" Target="../media/image125.svg" Type="http://schemas.openxmlformats.org/officeDocument/2006/relationships/image"/><Relationship Id="rId7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3.jpeg" Type="http://schemas.openxmlformats.org/officeDocument/2006/relationships/image"/><Relationship Id="rId3" Target="../media/image99.png" Type="http://schemas.openxmlformats.org/officeDocument/2006/relationships/image"/><Relationship Id="rId4" Target="../media/image100.sv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Relationship Id="rId7" Target="../media/image126.png" Type="http://schemas.openxmlformats.org/officeDocument/2006/relationships/image"/><Relationship Id="rId8" Target="../media/image127.svg" Type="http://schemas.openxmlformats.org/officeDocument/2006/relationships/image"/><Relationship Id="rId9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3.jpeg" Type="http://schemas.openxmlformats.org/officeDocument/2006/relationships/image"/><Relationship Id="rId3" Target="../media/image128.png" Type="http://schemas.openxmlformats.org/officeDocument/2006/relationships/image"/><Relationship Id="rId4" Target="../media/image129.svg" Type="http://schemas.openxmlformats.org/officeDocument/2006/relationships/image"/><Relationship Id="rId5" Target="../media/image130.png" Type="http://schemas.openxmlformats.org/officeDocument/2006/relationships/image"/><Relationship Id="rId6" Target="../media/image131.svg" Type="http://schemas.openxmlformats.org/officeDocument/2006/relationships/image"/><Relationship Id="rId7" Target="../notesSlides/notesSlide30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3.jpeg" Type="http://schemas.openxmlformats.org/officeDocument/2006/relationships/image"/><Relationship Id="rId3" Target="../media/image66.png" Type="http://schemas.openxmlformats.org/officeDocument/2006/relationships/image"/><Relationship Id="rId4" Target="../media/image67.svg" Type="http://schemas.openxmlformats.org/officeDocument/2006/relationships/image"/><Relationship Id="rId5" Target="../notesSlides/notesSlide31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3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132.png" Type="http://schemas.openxmlformats.org/officeDocument/2006/relationships/image"/><Relationship Id="rId6" Target="../media/image133.svg" Type="http://schemas.openxmlformats.org/officeDocument/2006/relationships/image"/><Relationship Id="rId7" Target="../media/image97.png" Type="http://schemas.openxmlformats.org/officeDocument/2006/relationships/image"/><Relationship Id="rId8" Target="../media/image98.svg" Type="http://schemas.openxmlformats.org/officeDocument/2006/relationships/image"/><Relationship Id="rId9" Target="../notesSlides/notesSlide32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39.svg" Type="http://schemas.openxmlformats.org/officeDocument/2006/relationships/image"/><Relationship Id="rId11" Target="../notesSlides/notesSlide33.xml" Type="http://schemas.openxmlformats.org/officeDocument/2006/relationships/notesSlide"/><Relationship Id="rId2" Target="../media/image63.jpe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134.png" Type="http://schemas.openxmlformats.org/officeDocument/2006/relationships/image"/><Relationship Id="rId6" Target="../media/image135.svg" Type="http://schemas.openxmlformats.org/officeDocument/2006/relationships/image"/><Relationship Id="rId7" Target="../media/image136.png" Type="http://schemas.openxmlformats.org/officeDocument/2006/relationships/image"/><Relationship Id="rId8" Target="../media/image137.svg" Type="http://schemas.openxmlformats.org/officeDocument/2006/relationships/image"/><Relationship Id="rId9" Target="../media/image138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37.svg" Type="http://schemas.openxmlformats.org/officeDocument/2006/relationships/image"/><Relationship Id="rId11" Target="../media/image97.png" Type="http://schemas.openxmlformats.org/officeDocument/2006/relationships/image"/><Relationship Id="rId12" Target="../media/image98.svg" Type="http://schemas.openxmlformats.org/officeDocument/2006/relationships/image"/><Relationship Id="rId13" Target="../media/image93.png" Type="http://schemas.openxmlformats.org/officeDocument/2006/relationships/image"/><Relationship Id="rId14" Target="../media/image94.svg" Type="http://schemas.openxmlformats.org/officeDocument/2006/relationships/image"/><Relationship Id="rId15" Target="../notesSlides/notesSlide34.xml" Type="http://schemas.openxmlformats.org/officeDocument/2006/relationships/notesSlide"/><Relationship Id="rId2" Target="../media/image63.jpeg" Type="http://schemas.openxmlformats.org/officeDocument/2006/relationships/image"/><Relationship Id="rId3" Target="../media/image68.png" Type="http://schemas.openxmlformats.org/officeDocument/2006/relationships/image"/><Relationship Id="rId4" Target="../media/image69.svg" Type="http://schemas.openxmlformats.org/officeDocument/2006/relationships/image"/><Relationship Id="rId5" Target="../media/image91.png" Type="http://schemas.openxmlformats.org/officeDocument/2006/relationships/image"/><Relationship Id="rId6" Target="../media/image92.svg" Type="http://schemas.openxmlformats.org/officeDocument/2006/relationships/image"/><Relationship Id="rId7" Target="../media/image140.png" Type="http://schemas.openxmlformats.org/officeDocument/2006/relationships/image"/><Relationship Id="rId8" Target="../media/image141.svg" Type="http://schemas.openxmlformats.org/officeDocument/2006/relationships/image"/><Relationship Id="rId9" Target="../media/image136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7.svg" Type="http://schemas.openxmlformats.org/officeDocument/2006/relationships/image"/><Relationship Id="rId11" Target="../media/image91.png" Type="http://schemas.openxmlformats.org/officeDocument/2006/relationships/image"/><Relationship Id="rId12" Target="../media/image92.svg" Type="http://schemas.openxmlformats.org/officeDocument/2006/relationships/image"/><Relationship Id="rId13" Target="../media/image144.png" Type="http://schemas.openxmlformats.org/officeDocument/2006/relationships/image"/><Relationship Id="rId14" Target="../media/image145.svg" Type="http://schemas.openxmlformats.org/officeDocument/2006/relationships/image"/><Relationship Id="rId15" Target="../media/image146.png" Type="http://schemas.openxmlformats.org/officeDocument/2006/relationships/image"/><Relationship Id="rId16" Target="../media/image147.svg" Type="http://schemas.openxmlformats.org/officeDocument/2006/relationships/image"/><Relationship Id="rId17" Target="../notesSlides/notesSlide35.xml" Type="http://schemas.openxmlformats.org/officeDocument/2006/relationships/notesSlide"/><Relationship Id="rId2" Target="../media/image63.jpe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142.png" Type="http://schemas.openxmlformats.org/officeDocument/2006/relationships/image"/><Relationship Id="rId6" Target="../media/image143.svg" Type="http://schemas.openxmlformats.org/officeDocument/2006/relationships/image"/><Relationship Id="rId7" Target="../media/image103.png" Type="http://schemas.openxmlformats.org/officeDocument/2006/relationships/image"/><Relationship Id="rId8" Target="../media/image104.svg" Type="http://schemas.openxmlformats.org/officeDocument/2006/relationships/image"/><Relationship Id="rId9" Target="../media/image76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48.jpeg" Type="http://schemas.openxmlformats.org/officeDocument/2006/relationships/image"/><Relationship Id="rId3" Target="../media/image149.png" Type="http://schemas.openxmlformats.org/officeDocument/2006/relationships/image"/><Relationship Id="rId4" Target="../media/image150.svg" Type="http://schemas.openxmlformats.org/officeDocument/2006/relationships/image"/><Relationship Id="rId5" Target="../notesSlides/notesSlide36.xml" Type="http://schemas.openxmlformats.org/officeDocument/2006/relationships/notesSlide"/><Relationship Id="rId6" Target="../media/image15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7142" r="7142" t="7142" b="714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F172A">
                  <a:alpha val="92000"/>
                </a:srgbClr>
              </a:gs>
              <a:gs pos="100000">
                <a:srgbClr val="0F172A">
                  <a:alpha val="7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600" y="1397000"/>
            <a:ext cx="1097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F97316">
                <a:alpha val="40000"/>
              </a:srgbClr>
            </a:outerShdw>
          </a:effectLst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MinIO + MLflow 实战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56000" y="2413000"/>
            <a:ext cx="5080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97316">
                  <a:alpha val="0"/>
                </a:srgbClr>
              </a:gs>
              <a:gs pos="50000">
                <a:srgbClr val="F97316">
                  <a:alpha val="100000"/>
                </a:srgbClr>
              </a:gs>
              <a:gs pos="100000">
                <a:srgbClr val="F97316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" y="2667000"/>
            <a:ext cx="10972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 spc="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模型文件统一存储到 MinIO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810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981200" y="4127500"/>
            <a:ext cx="863600" cy="863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62000" y="5143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统一对象存储管理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3810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664200" y="4127500"/>
            <a:ext cx="863600" cy="863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445000" y="5143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模型资产持久化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3810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347200" y="4127500"/>
            <a:ext cx="863600" cy="863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128000" y="5143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MLOps 流程高效闭环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0" y="6223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0" y="6299200"/>
            <a:ext cx="1219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MLOps 最佳实践分享 ·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000" r="2000" t="1953" b="2131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b="false" i="false" strike="noStrike" u="none" sz="2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95400"/>
            <a:ext cx="762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1066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651000"/>
            <a:ext cx="101600" cy="863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1803400"/>
            <a:ext cx="558800" cy="5588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19304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905000" y="1803400"/>
            <a:ext cx="76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794000" y="1752600"/>
            <a:ext cx="825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项目背景与挑战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当前模型管理的痛点分析：版本混乱、环境依赖缺失与追踪困难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2667000"/>
            <a:ext cx="1066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2667000"/>
            <a:ext cx="101600" cy="863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143000" y="2819400"/>
            <a:ext cx="558800" cy="5588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70000" y="29464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905000" y="2819400"/>
            <a:ext cx="76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794000" y="2768600"/>
            <a:ext cx="825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整体架构与核心原理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MLflow与MinIO协同工作原理：如何实现模型全生命周期管理与存储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3683000"/>
            <a:ext cx="1066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3683000"/>
            <a:ext cx="101600" cy="863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143000" y="3835400"/>
            <a:ext cx="558800" cy="5588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70000" y="39624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905000" y="3835400"/>
            <a:ext cx="76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794000" y="3784600"/>
            <a:ext cx="825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实战部署与操作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从环境配置到启动服务：Docker容器化部署与依赖安装完整步骤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4699000"/>
            <a:ext cx="1066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4699000"/>
            <a:ext cx="101600" cy="863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143000" y="4851400"/>
            <a:ext cx="558800" cy="5588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270000" y="4978400"/>
            <a:ext cx="304800" cy="3048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1905000" y="4851400"/>
            <a:ext cx="76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2794000" y="4800600"/>
            <a:ext cx="825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效果验证与核心操作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验证模型存储并学习如何加载模型：实操演示确保方案可行性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5715000"/>
            <a:ext cx="1066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2000" y="5715000"/>
            <a:ext cx="101600" cy="863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143000" y="5867400"/>
            <a:ext cx="558800" cy="5588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270000" y="5994400"/>
            <a:ext cx="304800" cy="3048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1905000" y="5867400"/>
            <a:ext cx="76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2794000" y="5816600"/>
            <a:ext cx="8255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总结与价值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方案带来的MLOps核心价值：提升效率、降低成本与优化协作流程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4716" r="4716" t="4697" b="469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413000"/>
            <a:ext cx="101600" cy="2286000"/>
          </a:xfrm>
          <a:prstGeom prst="roundRect">
            <a:avLst>
              <a:gd name="adj" fmla="val 5000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F97316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17600" y="2349500"/>
            <a:ext cx="635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17600" y="3492500"/>
            <a:ext cx="698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项目背景与挑战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17600" y="4318000"/>
            <a:ext cx="660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从数据孤岛到智能协同，深度解析当前机器学习实践中</a:t>
            </a:r>
            <a:r>
              <a:rPr lang="en-US" b="false" i="false" strike="noStrike" u="none" sz="18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8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8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模型全生命周期管理面临的核心痛点与转型机遇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17600" y="5397500"/>
            <a:ext cx="2794000" cy="76200"/>
          </a:xfrm>
          <a:prstGeom prst="roundRect">
            <a:avLst>
              <a:gd name="adj" fmla="val 50000"/>
            </a:avLst>
          </a:prstGeom>
          <a:gradFill rotWithShape="true">
            <a:gsLst>
              <a:gs pos="0">
                <a:srgbClr val="F97316">
                  <a:alpha val="100000"/>
                </a:srgbClr>
              </a:gs>
              <a:gs pos="100000">
                <a:srgbClr val="F97316">
                  <a:alpha val="4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382000" y="2286000"/>
            <a:ext cx="2286000" cy="2286000"/>
          </a:xfrm>
          <a:prstGeom prst="ellipse">
            <a:avLst/>
          </a:prstGeom>
          <a:solidFill>
            <a:srgbClr val="F97316">
              <a:alpha val="8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763000" y="2667000"/>
            <a:ext cx="1524000" cy="1524000"/>
          </a:xfrm>
          <a:prstGeom prst="rect">
            <a:avLst/>
          </a:prstGeom>
          <a:effectLst>
            <a:outerShdw dir="2700000" dist="101600" blurRad="190500" algn="tl" rotWithShape="false">
              <a:srgbClr val="F97316">
                <a:alpha val="20000"/>
              </a:srgbClr>
            </a:outerShdw>
          </a:effectLst>
        </p:spPr>
      </p:pic>
      <p:sp>
        <p:nvSpPr>
          <p:cNvPr name="AutoShape 11" id="11"/>
          <p:cNvSpPr/>
          <p:nvPr/>
        </p:nvSpPr>
        <p:spPr>
          <a:xfrm rot="0" flipH="false" flipV="false">
            <a:off x="8382000" y="4699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 spc="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BACKGROUND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125" r="3125" t="3125" b="312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当前模型管理的痛点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2032000" cy="3937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1F2937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2032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473200" y="22225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89000" y="3048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文件分散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3556000"/>
            <a:ext cx="177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模型文件散落在不同服务器、不同目录，难以追踪和查找。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921000" y="1778000"/>
            <a:ext cx="2032000" cy="3937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1F2937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921000" y="1778000"/>
            <a:ext cx="2032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632200" y="22225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3048000" y="3048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版本混乱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048000" y="3556000"/>
            <a:ext cx="177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训练过程中产生大量版本，手动管理易出错，难以有效回溯。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0" y="1778000"/>
            <a:ext cx="2032000" cy="3937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1F2937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080000" y="1778000"/>
            <a:ext cx="2032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791200" y="2222500"/>
            <a:ext cx="609600" cy="609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5207000" y="3048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存储瓶颈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207000" y="3556000"/>
            <a:ext cx="177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本地磁盘容量有限，无法满足大规模模型训练的存储需求。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239000" y="1778000"/>
            <a:ext cx="2032000" cy="3937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1F2937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39000" y="1778000"/>
            <a:ext cx="2032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950200" y="2222500"/>
            <a:ext cx="609600" cy="609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7366000" y="3048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共享困难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366000" y="3556000"/>
            <a:ext cx="177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训练、测试、部署环境之间共享模型文件的流程繁琐且低效。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398000" y="1778000"/>
            <a:ext cx="2032000" cy="3937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1F2937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398000" y="1778000"/>
            <a:ext cx="2032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09200" y="2222500"/>
            <a:ext cx="609600" cy="6096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9525000" y="3048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缺乏统一视图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525000" y="3556000"/>
            <a:ext cx="1778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无法直观地查看模型参数、指标、代码和文件之间的关联关系。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6032500"/>
            <a:ext cx="10668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97316">
                  <a:alpha val="100000"/>
                </a:srgbClr>
              </a:gs>
              <a:gs pos="100000">
                <a:srgbClr val="F97316">
                  <a:alpha val="4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000" r="2000" t="2127" b="212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635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984500"/>
            <a:ext cx="1778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302000"/>
            <a:ext cx="660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整体架构与核心原理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191000"/>
            <a:ext cx="635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深入解析 MLflow 与 MinIO 协同工作的底层逻辑，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揭示高效数据流转与模型管理的技术内核。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0" y="1905000"/>
            <a:ext cx="3810000" cy="3048000"/>
          </a:xfrm>
          <a:prstGeom prst="roundRect">
            <a:avLst>
              <a:gd name="adj" fmla="val 6250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97316">
                <a:alpha val="3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F97316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953500" y="2413000"/>
            <a:ext cx="1143000" cy="1143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874000" y="38100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CORE PRINCIPLES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核心架构 · 原理解析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767" b="376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整体架构：各司其职，高效协同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84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9500" y="2159000"/>
            <a:ext cx="1016000" cy="1016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333500" y="24130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2286000" y="1841500"/>
            <a:ext cx="406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MLflow：模型实验管理中心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记录追踪：参数、指标及代码版本全流程记录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模型打包：统一标准格式，封装模型与依赖环境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统一界面：可视化UI，直观对比不同实验效果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937000"/>
            <a:ext cx="584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79500" y="4445000"/>
            <a:ext cx="1016000" cy="1016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333500" y="46990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2286000" y="4127500"/>
            <a:ext cx="406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MinIO：模型文件存储中心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极致性能：兼容S3协议，对象存储高并发读写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资产安全：支持数据冗余与版本控制，防丢失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集中管理：模型文件统一存储，便于团队共享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858000" y="5397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机器学习全生命周期管理架构流程示意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0" y="6350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0" y="6350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高效协同 · 全链路模型资产管控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4545" r="4545" t="4545" b="454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33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857500"/>
            <a:ext cx="533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实战部署与操作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6830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000500"/>
            <a:ext cx="508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从理论到落地，掌握环境搭建核心流程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手把手教学，快速完成系统部署与验证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77000" y="1778000"/>
            <a:ext cx="4953000" cy="3556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52400" blurRad="304800" algn="tl" rotWithShape="false">
              <a:srgbClr val="F97316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191500" y="2286000"/>
            <a:ext cx="1143000" cy="1143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731000" y="3683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核心实战环节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731000" y="42545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环境配置 • 代码部署 • 运行调试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全流程实操指南，解决部署难题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0" y="6273800"/>
            <a:ext cx="1219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 spc="2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PART 03 / DEPLOYMENT PRACTICE &amp; OPERATION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125" r="3125" t="3125" b="312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685800"/>
            <a:ext cx="457200" cy="4572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635000"/>
            <a:ext cx="1016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核心配置：环境变量设置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397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在启动 MLflow 服务的终端中，必须先配置以下环境变量，以授权 MLflow 正确连接并访问 MinIO 对象存储服务。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159000"/>
            <a:ext cx="10668000" cy="3048000"/>
          </a:xfrm>
          <a:prstGeom prst="roundRect">
            <a:avLst>
              <a:gd name="adj" fmla="val 5000"/>
            </a:avLst>
          </a:prstGeom>
          <a:solidFill>
            <a:srgbClr val="1E293B">
              <a:alpha val="100000"/>
            </a:srgbClr>
          </a:solidFill>
          <a:ln w="25400" cmpd="sng" cap="flat">
            <a:solidFill>
              <a:srgbClr val="F97316">
                <a:alpha val="10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F97316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2413000"/>
            <a:ext cx="990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Terminal / 命令行配置指令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407" flipH="false" flipV="false">
            <a:off x="1143004" y="2851150"/>
            <a:ext cx="990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143000" y="2984500"/>
            <a:ext cx="9906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1. 配置 MinIO 访问凭证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export AWS_ACCESS_KEY_ID=admin # MinIO 用户名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export AWS_SECRET_ACCESS_KEY=12345678 # MinIO 密码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2. 配置 MinIO 服务地址 (API端口9000)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export MLFLOW_S3_ENDPOINT_URL=http://192.168.1.100:9000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461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DBA7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79500" y="5689600"/>
            <a:ext cx="431800" cy="431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5613400"/>
            <a:ext cx="9525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重要提示：</a:t>
            </a:r>
            <a:r>
              <a:rPr lang="en-US" b="false" i="false" strike="noStrike" u="none" sz="140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若需忽略 TLS 证书验证（仅限开发测试环境），请添加指令：export MLFLOW_S3_IGNORE_TLS=true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125" r="3125" t="3125" b="312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启动MLflow服务：核心命令与参数解析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07000" cy="4191000"/>
          </a:xfrm>
          <a:prstGeom prst="roundRect">
            <a:avLst>
              <a:gd name="adj" fmla="val 3636"/>
            </a:avLst>
          </a:prstGeom>
          <a:solidFill>
            <a:srgbClr val="2D3748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01600" blurRad="190500" algn="tl" rotWithShape="false">
              <a:srgbClr val="000000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727200"/>
            <a:ext cx="5207000" cy="457200"/>
          </a:xfrm>
          <a:prstGeom prst="roundRect">
            <a:avLst>
              <a:gd name="adj" fmla="val 0"/>
            </a:avLst>
          </a:prstGeom>
          <a:solidFill>
            <a:srgbClr val="4A5568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1778000"/>
            <a:ext cx="4699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BD5E0">
                    <a:alpha val="90196"/>
                  </a:srgb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Terminal —— 启动命令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413000"/>
            <a:ext cx="4699000" cy="317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ED7A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$ mlflow server \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--backend-store-uri sqlite:///mlruns.db \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--default-artifact-root s3://mlflow-models/ \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--host 0.0.0.0 \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--port 5000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16510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604000" y="18161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366000" y="17526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--backend-store-uri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指定实验元数据存储位置（如SQLite数据库）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27305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28956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366000" y="28321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--default-artifact-root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指定模型文件存储路径（如MinIO/S3存储桶）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38100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04000" y="3975100"/>
            <a:ext cx="609600" cy="609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366000" y="39116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--host 0.0.0.0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允许外部主机访问服务，而非仅本地(127.0.0.1)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4889500"/>
            <a:ext cx="5080000" cy="9525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5054600"/>
            <a:ext cx="609600" cy="609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366000" y="49911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--port 5000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定义服务监听端口，可根据需求调整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924" b="3924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794000"/>
            <a:ext cx="1016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cmpd="sng" cap="flat">
            <a:solidFill>
              <a:srgbClr val="E05C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115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效果验证与核心操作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810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 spc="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VERIFICATION &amp; CORE OPERATIONS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445000"/>
            <a:ext cx="711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本章将演示如何通过 MLflow 和 MinIO 控制台确认模型文件存储状态，并完整解析模型加载的核心步骤，确保服务启动后的可用性。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636000" y="2032000"/>
            <a:ext cx="2794000" cy="2794000"/>
          </a:xfrm>
          <a:prstGeom prst="roundRect">
            <a:avLst>
              <a:gd name="adj" fmla="val 9090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F97316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334500" y="2540000"/>
            <a:ext cx="1397000" cy="1397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8636000" y="4127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效果确认 · 流程掌握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4237" b="423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715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验证效果：在MLflow UI中查看实验记录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533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1625600"/>
            <a:ext cx="558800" cy="558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841500" y="1498600"/>
            <a:ext cx="4064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访问控制台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浏览器输入：http://服务器IP:5000 进入UI界面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603500"/>
            <a:ext cx="533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79500" y="2832100"/>
            <a:ext cx="558800" cy="558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841500" y="2705100"/>
            <a:ext cx="4064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定位目标实验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在实验列表中找到项目：minio-mlflow-demo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810000"/>
            <a:ext cx="533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79500" y="4038600"/>
            <a:ext cx="558800" cy="558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841500" y="3911600"/>
            <a:ext cx="4064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查看运行详情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点击具体Run记录，查看训练参数与性能指标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016500"/>
            <a:ext cx="5334000" cy="1079500"/>
          </a:xfrm>
          <a:prstGeom prst="roundRect">
            <a:avLst>
              <a:gd name="adj" fmla="val 11764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97316">
                <a:alpha val="4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F97316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79500" y="5270500"/>
            <a:ext cx="558800" cy="558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841500" y="51054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4. 验证存储路径（关键）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Artifacts栏显示 S3路径 (s3://mlflow-models/...)，证明模型已托管至MinIO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1397000"/>
            <a:ext cx="5207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rcRect l="9375" r="9375" t="5223" b="5223"/>
          <a:stretch>
            <a:fillRect/>
          </a:stretch>
        </p:blipFill>
        <p:spPr>
          <a:xfrm rot="0" flipH="false" flipV="false">
            <a:off x="6477000" y="1524000"/>
            <a:ext cx="4953000" cy="3048000"/>
          </a:xfrm>
          <a:prstGeom prst="roundRect">
            <a:avLst>
              <a:gd name="adj" fmla="val 3333"/>
            </a:avLst>
          </a:prstGeom>
          <a:noFill/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6350000" y="4826000"/>
            <a:ext cx="520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MLflow UI 控制台界面：实验列表与 Artifacts 展示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0" y="6477000"/>
            <a:ext cx="12192000" cy="3810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0" y="6477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MLflow x MinIO 集成验证流程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验证效果：在 MinIO UI 中确认模型文件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711200" cy="711200"/>
          </a:xfrm>
          <a:prstGeom prst="roundRect">
            <a:avLst>
              <a:gd name="adj" fmla="val 17857"/>
            </a:avLst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63600" y="17526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00200" y="1651000"/>
            <a:ext cx="4572000" cy="812800"/>
          </a:xfrm>
          <a:prstGeom prst="roundRect">
            <a:avLst>
              <a:gd name="adj" fmla="val 15625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90500" rIns="19050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1. 访问控制台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：打开浏览器输入 http://服务器IP:9001 进入 MinIO 管理界面。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794000"/>
            <a:ext cx="711200" cy="711200"/>
          </a:xfrm>
          <a:prstGeom prst="roundRect">
            <a:avLst>
              <a:gd name="adj" fmla="val 17857"/>
            </a:avLst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63600" y="28956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600200" y="2794000"/>
            <a:ext cx="4572000" cy="812800"/>
          </a:xfrm>
          <a:prstGeom prst="roundRect">
            <a:avLst>
              <a:gd name="adj" fmla="val 15625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90500" rIns="19050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2. 登录定位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：输入账号密码登录后，找到并点击进入 mlflow-models 存储桶。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937000"/>
            <a:ext cx="711200" cy="711200"/>
          </a:xfrm>
          <a:prstGeom prst="roundRect">
            <a:avLst>
              <a:gd name="adj" fmla="val 17857"/>
            </a:avLst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63600" y="40386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00200" y="3937000"/>
            <a:ext cx="4572000" cy="1016000"/>
          </a:xfrm>
          <a:prstGeom prst="roundRect">
            <a:avLst>
              <a:gd name="adj" fmla="val 1250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90500" rIns="19050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3. 确认文件列表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：检查自动生成的目录结构，验证 model.pth、conda.yaml 等核心模型文件是否已成功上传。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rcRect l="27739" r="27739" t="0" b="0"/>
          <a:stretch>
            <a:fillRect/>
          </a:stretch>
        </p:blipFill>
        <p:spPr>
          <a:xfrm rot="0" flipH="false" flipV="false">
            <a:off x="6477000" y="1651000"/>
            <a:ext cx="4953000" cy="3048000"/>
          </a:xfrm>
          <a:prstGeom prst="roundRect">
            <a:avLst>
              <a:gd name="adj" fmla="val 4166"/>
            </a:avLst>
          </a:prstGeom>
          <a:noFill/>
          <a:ln w="254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15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477000" y="4953000"/>
            <a:ext cx="4953000" cy="558800"/>
          </a:xfrm>
          <a:prstGeom prst="roundRect">
            <a:avLst>
              <a:gd name="adj" fmla="val 22727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▲ MinIO 控制台：mlflow-models 桶内文件概览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969000"/>
            <a:ext cx="10668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767" b="376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635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794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总结与价值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683000"/>
            <a:ext cx="1016000" cy="762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cmpd="sng" cap="flat">
            <a:solidFill>
              <a:srgbClr val="E05C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064000"/>
            <a:ext cx="762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通过MLflow与MinIO的深度集成，构建标准化的MLOps数据底座。实现模型全生命周期的可追溯管理与高性能对象存储，显著降低运维复杂度并提升模型迭代效率。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0" y="2032000"/>
            <a:ext cx="2286000" cy="3048000"/>
          </a:xfrm>
          <a:prstGeom prst="roundRect">
            <a:avLst>
              <a:gd name="adj" fmla="val 8333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ED7AA">
                <a:alpha val="100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F97316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0" y="2540000"/>
            <a:ext cx="1016000" cy="1016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8890000" y="38100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9731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Core Value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cmpd="sng" cap="flat">
            <a:solidFill>
              <a:srgbClr val="E05C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125" r="3125" t="3125" b="312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11200"/>
            <a:ext cx="76200" cy="3556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cmpd="sng" cap="flat">
            <a:solidFill>
              <a:srgbClr val="E05C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65200" y="63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方案带来的核心价值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651000"/>
            <a:ext cx="2082800" cy="4064000"/>
          </a:xfrm>
          <a:prstGeom prst="roundRect">
            <a:avLst>
              <a:gd name="adj" fmla="val 609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  <a:effectLst>
            <a:outerShdw dir="5400000" dist="101600" blurRad="190500" algn="tl" rotWithShape="false">
              <a:srgbClr val="1F2937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77900" y="2032000"/>
            <a:ext cx="1143000" cy="11430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31900" y="2286000"/>
            <a:ext cx="635000" cy="635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35000" y="3302000"/>
            <a:ext cx="1828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模型资产中心化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" y="3810000"/>
            <a:ext cx="18288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所有模型文件统一存储在MinIO，消除孤岛，形成单一可信源。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717800" y="1651000"/>
            <a:ext cx="2082800" cy="4064000"/>
          </a:xfrm>
          <a:prstGeom prst="roundRect">
            <a:avLst>
              <a:gd name="adj" fmla="val 609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  <a:effectLst>
            <a:outerShdw dir="5400000" dist="101600" blurRad="190500" algn="tl" rotWithShape="false">
              <a:srgbClr val="1F2937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187700" y="2032000"/>
            <a:ext cx="1143000" cy="11430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441700" y="2286000"/>
            <a:ext cx="635000" cy="635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2844800" y="3302000"/>
            <a:ext cx="1828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高效协作与共享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844800" y="3810000"/>
            <a:ext cx="18288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打通训练、测试与部署团队壁垒，无缝共享最新模型成果。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927600" y="1651000"/>
            <a:ext cx="2082800" cy="4064000"/>
          </a:xfrm>
          <a:prstGeom prst="roundRect">
            <a:avLst>
              <a:gd name="adj" fmla="val 609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  <a:effectLst>
            <a:outerShdw dir="5400000" dist="101600" blurRad="190500" algn="tl" rotWithShape="false">
              <a:srgbClr val="1F2937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397500" y="2032000"/>
            <a:ext cx="1143000" cy="11430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651500" y="2286000"/>
            <a:ext cx="635000" cy="635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054600" y="3302000"/>
            <a:ext cx="1828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云原生与可扩展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054600" y="3810000"/>
            <a:ext cx="18288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标准S3兼容接口，轻松实现从本地到云端的平滑迁移与扩展。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137400" y="1651000"/>
            <a:ext cx="2082800" cy="4064000"/>
          </a:xfrm>
          <a:prstGeom prst="roundRect">
            <a:avLst>
              <a:gd name="adj" fmla="val 609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  <a:effectLst>
            <a:outerShdw dir="5400000" dist="101600" blurRad="190500" algn="tl" rotWithShape="false">
              <a:srgbClr val="1F2937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07300" y="2032000"/>
            <a:ext cx="1143000" cy="11430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861300" y="2286000"/>
            <a:ext cx="635000" cy="635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264400" y="3302000"/>
            <a:ext cx="1828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职责清晰解耦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264400" y="3810000"/>
            <a:ext cx="18288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MLflow专注于实验管理，MinIO专注于文件存储，各司其职。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347200" y="1651000"/>
            <a:ext cx="2082800" cy="4064000"/>
          </a:xfrm>
          <a:prstGeom prst="roundRect">
            <a:avLst>
              <a:gd name="adj" fmla="val 6097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97316">
                <a:alpha val="20000"/>
              </a:srgbClr>
            </a:solidFill>
            <a:prstDash val="solid"/>
            <a:round/>
          </a:ln>
          <a:effectLst>
            <a:outerShdw dir="5400000" dist="101600" blurRad="190500" algn="tl" rotWithShape="false">
              <a:srgbClr val="1F2937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817100" y="2032000"/>
            <a:ext cx="1143000" cy="1143000"/>
          </a:xfrm>
          <a:prstGeom prst="ellipse">
            <a:avLst/>
          </a:prstGeom>
          <a:solidFill>
            <a:srgbClr val="FFEDD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071100" y="2286000"/>
            <a:ext cx="635000" cy="6350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9474200" y="3302000"/>
            <a:ext cx="1828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全生命周期管理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474200" y="3810000"/>
            <a:ext cx="18288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完整覆盖模型版本化、全流程可追溯，配合细粒度权限控制。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0" y="6096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技术赋能业务 · 效率驱动增长 · 数据资产化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767" b="376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689600" y="1524000"/>
            <a:ext cx="812800" cy="812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540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 问答环节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55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 for Listening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88000" y="4318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cmpd="sng" cap="flat">
            <a:solidFill>
              <a:srgbClr val="E05C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651000" y="4699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关于 MLflow 和 MinIO 结合使用的问题，欢迎随时提出探讨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97316">
                  <a:alpha val="100000"/>
                </a:srgbClr>
              </a:gs>
              <a:gs pos="100000">
                <a:srgbClr val="FB923C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4716" r="4716" t="5000" b="500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397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MinIO 环境搭建与对象存储实战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8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 spc="1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MLOps 必备的高性能数据存储方案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34376" flipH="false" flipV="false">
            <a:off x="5461032" y="3105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4ADE8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889000" y="3683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06600" y="4064000"/>
            <a:ext cx="1066800" cy="1066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889000" y="5207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CentOS 环境极速部署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3683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562600" y="4064000"/>
            <a:ext cx="1066800" cy="1066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445000" y="5207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 S3 兼容存储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3683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118600" y="4064000"/>
            <a:ext cx="1066800" cy="1066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001000" y="5207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SDK 开发实战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0" y="62865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CA3A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 技术实战分享会 | 专注 AI 基础设施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760" b="3931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b="true" i="false" strike="noStrike" u="none" sz="2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905000"/>
            <a:ext cx="889000" cy="889000"/>
          </a:xfrm>
          <a:prstGeom prst="roundRect">
            <a:avLst>
              <a:gd name="adj" fmla="val 28571"/>
            </a:avLst>
          </a:prstGeom>
          <a:solidFill>
            <a:srgbClr val="DCF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06500" y="20955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095500" y="1803400"/>
            <a:ext cx="368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数据存储挑战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传统方案瓶颈与对象存储崛起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剖析MLOps流程中数据处理的痛点与转型方向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2385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492500"/>
            <a:ext cx="889000" cy="889000"/>
          </a:xfrm>
          <a:prstGeom prst="roundRect">
            <a:avLst>
              <a:gd name="adj" fmla="val 28571"/>
            </a:avLst>
          </a:prstGeom>
          <a:solidFill>
            <a:srgbClr val="DCF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06500" y="36830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2095500" y="3390900"/>
            <a:ext cx="368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MinIO核心定位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专为AI/ML构建的高性能存储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兼容S3协议，作为MLOps数据湖的核心组件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826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080000"/>
            <a:ext cx="889000" cy="889000"/>
          </a:xfrm>
          <a:prstGeom prst="roundRect">
            <a:avLst>
              <a:gd name="adj" fmla="val 28571"/>
            </a:avLst>
          </a:prstGeom>
          <a:solidFill>
            <a:srgbClr val="DCF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06500" y="52705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2095500" y="4978400"/>
            <a:ext cx="368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安装与环境配置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CentOS系统实操指南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从单节点部署到基础参数配置的完整流程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1651000"/>
            <a:ext cx="5207000" cy="1168400"/>
          </a:xfrm>
          <a:prstGeom prst="roundRect">
            <a:avLst>
              <a:gd name="adj" fmla="val 10869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854200"/>
            <a:ext cx="762000" cy="762000"/>
          </a:xfrm>
          <a:prstGeom prst="roundRect">
            <a:avLst>
              <a:gd name="adj" fmla="val 33333"/>
            </a:avLst>
          </a:prstGeom>
          <a:solidFill>
            <a:srgbClr val="DCF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29400" y="2006600"/>
            <a:ext cx="457200" cy="457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366000" y="1803400"/>
            <a:ext cx="3873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04 存储桶(Bucket)管理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创建策略与MLOps命名规范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权限设置与生命周期管理基础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2946400"/>
            <a:ext cx="5207000" cy="1168400"/>
          </a:xfrm>
          <a:prstGeom prst="roundRect">
            <a:avLst>
              <a:gd name="adj" fmla="val 10869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3149600"/>
            <a:ext cx="762000" cy="762000"/>
          </a:xfrm>
          <a:prstGeom prst="roundRect">
            <a:avLst>
              <a:gd name="adj" fmla="val 33333"/>
            </a:avLst>
          </a:prstGeom>
          <a:solidFill>
            <a:srgbClr val="DCF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629400" y="3302000"/>
            <a:ext cx="457200" cy="4572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366000" y="3098800"/>
            <a:ext cx="3873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05 Python SDK实战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模型文件的上传、下载与读取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代码示例与异常处理技巧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23000" y="4241800"/>
            <a:ext cx="5207000" cy="1168400"/>
          </a:xfrm>
          <a:prstGeom prst="roundRect">
            <a:avLst>
              <a:gd name="adj" fmla="val 10869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4445000"/>
            <a:ext cx="762000" cy="762000"/>
          </a:xfrm>
          <a:prstGeom prst="roundRect">
            <a:avLst>
              <a:gd name="adj" fmla="val 33333"/>
            </a:avLst>
          </a:prstGeom>
          <a:solidFill>
            <a:srgbClr val="DCF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629400" y="4597400"/>
            <a:ext cx="457200" cy="4572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7366000" y="4394200"/>
            <a:ext cx="3873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06 进阶管理与最佳实践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mc客户端常用命令解析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企业级监控与扩容方案建议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223000" y="5537200"/>
            <a:ext cx="5207000" cy="812800"/>
          </a:xfrm>
          <a:prstGeom prst="roundRect">
            <a:avLst>
              <a:gd name="adj" fmla="val 15625"/>
            </a:avLst>
          </a:prstGeom>
          <a:gradFill rotWithShape="true">
            <a:gsLst>
              <a:gs pos="0">
                <a:srgbClr val="4ADE80">
                  <a:alpha val="100000"/>
                </a:srgbClr>
              </a:gs>
              <a:gs pos="100000">
                <a:srgbClr val="22C55E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540500" y="5689600"/>
            <a:ext cx="508000" cy="5080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7239000" y="5664200"/>
            <a:ext cx="40005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07 核心价值：统一资产与效率提升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数据全生命周期管理与成本效益分析</a:t>
            </a:r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125" r="3125" t="3125" b="312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698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7305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111500"/>
            <a:ext cx="736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MLOps中的数据存储挑战与对象存储的崛起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445000"/>
            <a:ext cx="736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深入剖析传统存储方案在AI训练场景下的性能瓶颈，探讨云原生对象存储如何成为MLOps架构的理想基座。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636000" y="2032000"/>
            <a:ext cx="2032000" cy="2032000"/>
          </a:xfrm>
          <a:prstGeom prst="ellipse">
            <a:avLst/>
          </a:prstGeom>
          <a:solidFill>
            <a:srgbClr val="4ADE80">
              <a:alpha val="12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144000" y="2540000"/>
            <a:ext cx="1016000" cy="1016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8636000" y="42545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海量 · 弹性 · 高可用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767" b="376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传统存储方案的瓶颈：阻碍AI效能的关键短板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080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</a:ln>
          <a:effectLst>
            <a:outerShdw dir="2700000" dist="101600" blurRad="254000" algn="tl" rotWithShape="false">
              <a:srgbClr val="4ADE80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0320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905000" y="20828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文件存储 (NAS/SAN)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0110" flipH="false" flipV="false">
            <a:off x="1143009" y="2851150"/>
            <a:ext cx="431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143000" y="30480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I/O性能瓶颈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- 海量小文件高并发读写时性能骤降，拖慢模型训练。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39370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扩展成本高昂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- 扩容需停机维护，无法随业务弹性伸缩，维护复杂。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43000" y="48260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元数据低效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- 层级结构在EB级数据下检索缓慢，管理复杂度指数级上升。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1651000"/>
            <a:ext cx="5080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</a:ln>
          <a:effectLst>
            <a:outerShdw dir="2700000" dist="101600" blurRad="254000" algn="tl" rotWithShape="false">
              <a:srgbClr val="4ADE80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731000" y="20320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493000" y="20828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块存储 (Block Storage)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0110" flipH="false" flipV="false">
            <a:off x="6731009" y="2851150"/>
            <a:ext cx="431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731000" y="30480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管理抽象复杂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- 依赖上层文件系统管理，增加了一层数据抽象，部署繁琐。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31000" y="39370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空间利用率低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- 按固定块分配，碎片化严重，导致存储空间浪费，TCO居高不下。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31000" y="48260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网络访问受限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- 无法直接通过HTTP/HTTPS访问，需额外网关，影响云端协作效率。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0" y="6159500"/>
            <a:ext cx="12192000" cy="698500"/>
          </a:xfrm>
          <a:prstGeom prst="roundRect">
            <a:avLst>
              <a:gd name="adj" fmla="val 0"/>
            </a:avLst>
          </a:prstGeom>
          <a:solidFill>
            <a:srgbClr val="4ADE80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0" y="62484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核心洞察：传统架构已成为AI时代海量非结构化数据处理的性能天花板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398" r="3398" t="3448" b="3448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为什么选择对象存储 (Object Storage)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对象存储专为海量非结构化数据设计，将数据、元数据和唯一标识符打包为“对象”。它打破了传统文件系统的层级限制，是现代云原生架构与大数据时代的存储基石。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413000"/>
            <a:ext cx="1968500" cy="27940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413000"/>
            <a:ext cx="19685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435100" y="2794000"/>
            <a:ext cx="609600" cy="6096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536700" y="28956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889000" y="35560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扁平命名空间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4000500"/>
            <a:ext cx="1714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通过唯一ID直接访问，无层级限制，元数据检索极速高效。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933700" y="2413000"/>
            <a:ext cx="1968500" cy="27940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933700" y="2413000"/>
            <a:ext cx="19685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06800" y="2794000"/>
            <a:ext cx="609600" cy="6096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708400" y="28956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3060700" y="35560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无限线性扩展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060700" y="4000500"/>
            <a:ext cx="1714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轻松扩展至EB级，增加节点即可线性提升性能与容量。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105400" y="2413000"/>
            <a:ext cx="1968500" cy="27940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105400" y="2413000"/>
            <a:ext cx="19685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778500" y="2794000"/>
            <a:ext cx="609600" cy="6096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880100" y="28956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232400" y="35560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高可用与持久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232400" y="4000500"/>
            <a:ext cx="1714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多副本与纠删码机制，硬件故障不影响数据可用性。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277100" y="2413000"/>
            <a:ext cx="1968500" cy="27940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277100" y="2413000"/>
            <a:ext cx="19685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950200" y="2794000"/>
            <a:ext cx="609600" cy="6096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051800" y="2895600"/>
            <a:ext cx="406400" cy="4064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7404100" y="35560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兼容S3标准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404100" y="4000500"/>
            <a:ext cx="1714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遵循行业通用S3 API标准，极大简化应用开发与集成。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448800" y="2413000"/>
            <a:ext cx="1968500" cy="27940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448800" y="2413000"/>
            <a:ext cx="19685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0121900" y="2794000"/>
            <a:ext cx="609600" cy="6096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223500" y="2895600"/>
            <a:ext cx="406400" cy="4064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9575800" y="35560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极致成本效益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575800" y="4000500"/>
            <a:ext cx="1714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标准硬件部署降低投入，按量付费模式优化运营成本。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62000" y="5524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1143000" y="5702300"/>
            <a:ext cx="406400" cy="406400"/>
          </a:xfrm>
          <a:prstGeom prst="rect">
            <a:avLst/>
          </a:prstGeom>
        </p:spPr>
      </p:pic>
      <p:sp>
        <p:nvSpPr>
          <p:cNvPr name="AutoShape 38" id="38"/>
          <p:cNvSpPr/>
          <p:nvPr/>
        </p:nvSpPr>
        <p:spPr>
          <a:xfrm rot="0" flipH="false" flipV="false">
            <a:off x="1714500" y="5613400"/>
            <a:ext cx="939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MLOps 场景最佳拍档：管理模型文件、海量数据集、日志与中间结果的理想选择。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760" b="3931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6670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048000"/>
            <a:ext cx="812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MinIO——为MLOps而生的高性能对象存储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445000"/>
            <a:ext cx="812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兼容 AWS S3 协议 | 专为 AI 训练加速设计 | 云原生架构极速部署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0" y="2032000"/>
            <a:ext cx="1651000" cy="1651000"/>
          </a:xfrm>
          <a:prstGeom prst="ellipse">
            <a:avLst/>
          </a:prstGeom>
          <a:solidFill>
            <a:srgbClr val="4ADE80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906000" y="2413000"/>
            <a:ext cx="889000" cy="889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9398000" y="38100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Cloud Native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0" y="6477000"/>
            <a:ext cx="12192000" cy="381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8515" r="8515" t="0" b="0"/>
          <a:stretch>
            <a:fillRect/>
          </a:stretch>
        </p:blipFill>
        <p:spPr>
          <a:xfrm rot="0" flipH="false" flipV="false">
            <a:off x="508000" y="1397000"/>
            <a:ext cx="4826000" cy="3048000"/>
          </a:xfrm>
          <a:prstGeom prst="roundRect">
            <a:avLst>
              <a:gd name="adj" fmla="val 5000"/>
            </a:avLst>
          </a:prstGeom>
          <a:noFill/>
          <a:ln w="38100" cmpd="sng" cap="flat">
            <a:solidFill>
              <a:srgbClr val="4ADE80">
                <a:alpha val="10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508000" y="4699000"/>
            <a:ext cx="4826000" cy="1016000"/>
          </a:xfrm>
          <a:prstGeom prst="roundRect">
            <a:avLst>
              <a:gd name="adj" fmla="val 15000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私有化部署的高性能 S3 存储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Go语言编写 · 云原生架构 · 企业级安全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0" y="635000"/>
            <a:ext cx="558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MinIO是什么？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0" y="1397000"/>
            <a:ext cx="558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MinIO是一个高性能、分布式、云原生的对象存储系统，100%兼容Amazon S3 API。它由Go语言编写，以卓越的性能、极简的部署和强大的生态兼容性著称，是私有化部署S3服务的最佳选择。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2603500"/>
            <a:ext cx="2667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0" y="28575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2857500"/>
            <a:ext cx="158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极致性能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3492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标准硬件上读写速度高达183GB/s与171GB/s。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0" y="2603500"/>
            <a:ext cx="2667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144000" y="28575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779000" y="2857500"/>
            <a:ext cx="158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100% S3兼容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144000" y="3492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完美集成PyTorch、TensorFlow等主流AI工具链。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6000" y="4508500"/>
            <a:ext cx="2667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0" y="4762500"/>
            <a:ext cx="508000" cy="508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85000" y="4762500"/>
            <a:ext cx="158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轻量云原生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5397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单一二进制文件，无外部依赖，完美支持K8s。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90000" y="4508500"/>
            <a:ext cx="2667000" cy="17145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144000" y="4762500"/>
            <a:ext cx="508000" cy="508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779000" y="4762500"/>
            <a:ext cx="1587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企业级保护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144000" y="5397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默认纠删码技术，提供高数据持久性和加密功能。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767" b="376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71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048000"/>
            <a:ext cx="635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环境准备与 MinIO 安装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937000"/>
            <a:ext cx="1270000" cy="76200"/>
          </a:xfrm>
          <a:prstGeom prst="roundRect">
            <a:avLst>
              <a:gd name="adj" fmla="val 5000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3180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从理论走向实践，在 CentOS 系统中搭建高性能对象存储环境的第一步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366000" y="1905000"/>
            <a:ext cx="4064000" cy="3302000"/>
          </a:xfrm>
          <a:prstGeom prst="roundRect">
            <a:avLst>
              <a:gd name="adj" fmla="val 5769"/>
            </a:avLst>
          </a:prstGeom>
          <a:solidFill>
            <a:srgbClr val="4ADE80">
              <a:alpha val="1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763000" y="2413000"/>
            <a:ext cx="1270000" cy="1270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366000" y="3810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实战环节 · Hands-on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Environment Setup &amp; Installation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760" b="3931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CentOS 安装 MinIO 步骤指南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302000" cy="4191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981200" y="2032000"/>
            <a:ext cx="863600" cy="863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89000" y="2984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1. 下载与安装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492500"/>
            <a:ext cx="2921000" cy="1651000"/>
          </a:xfrm>
          <a:prstGeom prst="roundRect">
            <a:avLst>
              <a:gd name="adj" fmla="val 3846"/>
            </a:avLst>
          </a:prstGeom>
          <a:solidFill>
            <a:srgbClr val="2D374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581400"/>
            <a:ext cx="2794000" cy="147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wget https://dl.min.io/server/minio/release/linux-amd64/minio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chmod +x minio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mv minio /usr/local/bin/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5270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获取二进制文件并配置执行权限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1651000"/>
            <a:ext cx="3302000" cy="4191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664200" y="2032000"/>
            <a:ext cx="863600" cy="863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572000" y="2984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2. 创建存储目录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35500" y="3492500"/>
            <a:ext cx="2921000" cy="1651000"/>
          </a:xfrm>
          <a:prstGeom prst="roundRect">
            <a:avLst>
              <a:gd name="adj" fmla="val 3846"/>
            </a:avLst>
          </a:prstGeom>
          <a:solidFill>
            <a:srgbClr val="2D374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99000" y="3581400"/>
            <a:ext cx="2794000" cy="147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# 创建数据目录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mkdir -p /data/minio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# 赋予目录权限(可选)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sudo chmod -R 755 /data/minio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572000" y="5270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为 MinIO 实例准备持久化存储路径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1651000"/>
            <a:ext cx="3302000" cy="4191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347200" y="2032000"/>
            <a:ext cx="863600" cy="863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8255000" y="2984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3. 配置管理员账户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18500" y="3492500"/>
            <a:ext cx="2921000" cy="1651000"/>
          </a:xfrm>
          <a:prstGeom prst="roundRect">
            <a:avLst>
              <a:gd name="adj" fmla="val 3846"/>
            </a:avLst>
          </a:prstGeom>
          <a:solidFill>
            <a:srgbClr val="2D374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82000" y="3581400"/>
            <a:ext cx="2794000" cy="147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export MINIO_ROOT_USER=admin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export MINIO_ROOT_PASSWORD=12345678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# 启动MinIO服务(示例)</a:t>
            </a: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minio server /data/minio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255000" y="5270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通过环境变量设置账号与安全密码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0" y="6223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0" y="6299200"/>
            <a:ext cx="1219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核心提示：MinIO 要求密码长度至少 8 个字符，请务必设置高强度密码以保障安全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1807" r="1807" t="1785" b="178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启动 MinIO 服务：从命令行到控制台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  <a:effectLst>
            <a:outerShdw dir="5400000" dist="101600" blurRad="190500" algn="tl" rotWithShape="false">
              <a:srgbClr val="4ADE8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841500" y="2032000"/>
            <a:ext cx="1143000" cy="1143000"/>
          </a:xfrm>
          <a:prstGeom prst="ellipse">
            <a:avLst/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95500" y="2286000"/>
            <a:ext cx="635000" cy="635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952500" y="3302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前台启动 (调试用)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3810000"/>
            <a:ext cx="2921000" cy="1143000"/>
          </a:xfrm>
          <a:prstGeom prst="roundRect">
            <a:avLst>
              <a:gd name="adj" fmla="val 5555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873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minio server /data/minio \</a:t>
            </a: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--console-address ":9001"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5080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指定数据目录与Web端口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终端关闭则服务停止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  <a:effectLst>
            <a:outerShdw dir="5400000" dist="101600" blurRad="190500" algn="tl" rotWithShape="false">
              <a:srgbClr val="4ADE8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524500" y="2032000"/>
            <a:ext cx="1143000" cy="1143000"/>
          </a:xfrm>
          <a:prstGeom prst="ellipse">
            <a:avLst/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78500" y="2286000"/>
            <a:ext cx="635000" cy="635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4635500" y="3302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后台常驻 (生产推荐)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35500" y="3810000"/>
            <a:ext cx="2921000" cy="1143000"/>
          </a:xfrm>
          <a:prstGeom prst="roundRect">
            <a:avLst>
              <a:gd name="adj" fmla="val 5555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99000" y="3873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nohup minio server /data \</a:t>
            </a: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--console ":9001" &gt; minio.log &amp;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635500" y="5080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nohup实现后台运行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日志重定向至 minio.log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28000" y="1651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  <a:effectLst>
            <a:outerShdw dir="5400000" dist="101600" blurRad="190500" algn="tl" rotWithShape="false">
              <a:srgbClr val="4ADE8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207500" y="2032000"/>
            <a:ext cx="1143000" cy="1143000"/>
          </a:xfrm>
          <a:prstGeom prst="ellipse">
            <a:avLst/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61500" y="2286000"/>
            <a:ext cx="635000" cy="6350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8318500" y="3302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访问 Web 控制台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18500" y="3810000"/>
            <a:ext cx="2921000" cy="1143000"/>
          </a:xfrm>
          <a:prstGeom prst="roundRect">
            <a:avLst>
              <a:gd name="adj" fmla="val 5555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382000" y="3873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http://&lt;Server-IP&gt;:9001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User: admin | Pwd: 12345678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318500" y="5080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在浏览器中输入地址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使用配置的账号密码登录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767" b="376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651000"/>
            <a:ext cx="101600" cy="3048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cmpd="sng" cap="flat">
            <a:solidFill>
              <a:srgbClr val="2EC5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04 章节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540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核心操作 — 创建与管理存储桶 (Bucket)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302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 Bucket 的创建流程到生命周期管理，全方位掌握 MinIO 最基础的对象存储单元操作。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318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4699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905000" y="46355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创建 Bucket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快速初始化存储空间，定义数据归属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94200" y="4318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75200" y="46990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537200" y="46355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权限与策略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设置访问控制列表，保障数据安全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26400" y="4318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07400" y="4699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9169400" y="46355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生命周期管理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自动化数据分层与过期清理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创建存储桶 (Bucket) 与 MLOps 命名策略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44600"/>
            <a:ext cx="762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558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▌ 操作步骤 (MinIO 控制台)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095500"/>
            <a:ext cx="457200" cy="4572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63600" y="21971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2095500"/>
            <a:ext cx="495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登录控制台：访问 http://IP:9001 完成管理员登录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667000"/>
            <a:ext cx="457200" cy="4572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63600" y="27686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33500" y="2667000"/>
            <a:ext cx="495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导航至Buckets：在左侧导航栏点击 Buckets 选项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238500"/>
            <a:ext cx="457200" cy="4572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63600" y="3340100"/>
            <a:ext cx="254000" cy="254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33500" y="3238500"/>
            <a:ext cx="495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发起创建：点击页面右上角 Create Bucket 按钮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810000"/>
            <a:ext cx="457200" cy="4572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63600" y="39116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33500" y="3810000"/>
            <a:ext cx="495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4. 关键配置：输入名称(如ml-models)并开启版本控制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381500"/>
            <a:ext cx="457200" cy="4572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63600" y="4483100"/>
            <a:ext cx="254000" cy="254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333500" y="4381500"/>
            <a:ext cx="495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5. 完成创建：确认所有参数无误后点击 Create 按钮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080000"/>
            <a:ext cx="558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▌ MLOps 最佳命名策略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524500"/>
            <a:ext cx="1778000" cy="762000"/>
          </a:xfrm>
          <a:prstGeom prst="roundRect">
            <a:avLst>
              <a:gd name="adj" fmla="val 16666"/>
            </a:avLst>
          </a:prstGeom>
          <a:solidFill>
            <a:srgbClr val="4ADE80">
              <a:alpha val="1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914400" y="56896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270000" y="5588000"/>
            <a:ext cx="1206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按项目划分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project-a-models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2667000" y="5524500"/>
            <a:ext cx="1778000" cy="762000"/>
          </a:xfrm>
          <a:prstGeom prst="roundRect">
            <a:avLst>
              <a:gd name="adj" fmla="val 16666"/>
            </a:avLst>
          </a:prstGeom>
          <a:solidFill>
            <a:srgbClr val="4ADE80">
              <a:alpha val="1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2819400" y="5689600"/>
            <a:ext cx="304800" cy="3048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3175000" y="5588000"/>
            <a:ext cx="1206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按环境划分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ml-prod-models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572000" y="5524500"/>
            <a:ext cx="1778000" cy="762000"/>
          </a:xfrm>
          <a:prstGeom prst="roundRect">
            <a:avLst>
              <a:gd name="adj" fmla="val 16666"/>
            </a:avLst>
          </a:prstGeom>
          <a:solidFill>
            <a:srgbClr val="4ADE80">
              <a:alpha val="1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4724400" y="5689600"/>
            <a:ext cx="304800" cy="3048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5080000" y="5588000"/>
            <a:ext cx="1206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按数据类型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trained-models</a:t>
            </a:r>
            <a:endParaRPr lang="en-US" sz="1100"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rcRect l="2631" r="2631" t="3125" b="3125"/>
          <a:stretch>
            <a:fillRect/>
          </a:stretch>
        </p:blipFill>
        <p:spPr>
          <a:xfrm rot="0" flipH="false" flipV="false">
            <a:off x="6858000" y="1651000"/>
            <a:ext cx="4572000" cy="3810000"/>
          </a:xfrm>
          <a:prstGeom prst="roundRect">
            <a:avLst>
              <a:gd name="adj" fmla="val 6666"/>
            </a:avLst>
          </a:prstGeom>
          <a:noFill/>
          <a:ln w="25400" cmpd="sng" cap="flat">
            <a:solidFill>
              <a:srgbClr val="4ADE80">
                <a:alpha val="10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000000">
                <a:alpha val="18000"/>
              </a:srgbClr>
            </a:outerShdw>
          </a:effectLst>
        </p:spPr>
      </p:pic>
      <p:sp>
        <p:nvSpPr>
          <p:cNvPr name="AutoShape 33" id="33"/>
          <p:cNvSpPr/>
          <p:nvPr/>
        </p:nvSpPr>
        <p:spPr>
          <a:xfrm rot="0" flipH="false" flipV="false">
            <a:off x="6858000" y="55880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MinIO 控制台创建 Bucket 界面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图示为创建弹窗，包含名称输入与版本控制开关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767" b="376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FFFF">
                  <a:alpha val="96000"/>
                </a:srgbClr>
              </a:gs>
              <a:gs pos="45000">
                <a:srgbClr val="FFFFFF">
                  <a:alpha val="85000"/>
                </a:srgbClr>
              </a:gs>
              <a:gs pos="100000">
                <a:srgbClr val="FFFFFF">
                  <a:alpha val="1000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E6CFCF">
                    <a:alpha val="96000"/>
                  </a:srgbClr>
                </a:gs>
                <a:gs pos="45000">
                  <a:srgbClr val="E6CFCF">
                    <a:alpha val="85000"/>
                  </a:srgbClr>
                </a:gs>
                <a:gs pos="100000">
                  <a:srgbClr val="E6CFCF">
                    <a:alpha val="1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08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667000"/>
            <a:ext cx="736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实战演练：使用 Python SDK 操作模型文件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683000"/>
            <a:ext cx="1270000" cy="76200"/>
          </a:xfrm>
          <a:prstGeom prst="roundRect">
            <a:avLst>
              <a:gd name="adj" fmla="val 266666"/>
            </a:avLst>
          </a:prstGeom>
          <a:solidFill>
            <a:srgbClr val="4ADE80">
              <a:alpha val="100000"/>
            </a:srgbClr>
          </a:solidFill>
          <a:ln cmpd="sng" cap="flat">
            <a:solidFill>
              <a:srgbClr val="2EC5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064000"/>
            <a:ext cx="698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从环境配置到代码调试，手把手教你掌握云存储模型文件的上传、下载与管理核心逻辑，实现自动化操作。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636000" y="1905000"/>
            <a:ext cx="2794000" cy="3048000"/>
          </a:xfrm>
          <a:prstGeom prst="roundRect">
            <a:avLst>
              <a:gd name="adj" fmla="val 9090"/>
            </a:avLst>
          </a:prstGeom>
          <a:solidFill>
            <a:srgbClr val="4ADE80">
              <a:alpha val="12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4ADE80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334500" y="2413000"/>
            <a:ext cx="1397000" cy="1397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8636000" y="4000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 spc="1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CODING PRACTICE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cmpd="sng" cap="flat">
            <a:solidFill>
              <a:srgbClr val="C1E4C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62738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97000" y="6248400"/>
            <a:ext cx="1016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本章目标：能够独立编写 Python 脚本，完成模型文件在云端的完整生命周期管理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931" b="376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11200"/>
            <a:ext cx="76200" cy="406400"/>
          </a:xfrm>
          <a:prstGeom prst="roundRect">
            <a:avLst>
              <a:gd name="adj" fmla="val 33333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65200" y="635000"/>
            <a:ext cx="1041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SDK：MinIO 连接与文件上传实战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3302000" cy="4191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841500" y="1968500"/>
            <a:ext cx="1143000" cy="1143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08200" y="22352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952500" y="3238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安装依赖库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3746500"/>
            <a:ext cx="2921000" cy="1143000"/>
          </a:xfrm>
          <a:prstGeom prst="roundRect">
            <a:avLst>
              <a:gd name="adj" fmla="val 5555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79500" y="3873500"/>
            <a:ext cx="266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# 使用pip快速安装</a:t>
            </a:r>
            <a:r>
              <a:rPr lang="en-US" b="false" i="false" strike="noStrike" u="none" sz="13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3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3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pip install minio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5016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一行命令完成环境配置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兼容 Python 3.6+ 版本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1651000"/>
            <a:ext cx="3302000" cy="4191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524500" y="1968500"/>
            <a:ext cx="1143000" cy="1143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91200" y="22352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635500" y="3238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初始化客户端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35500" y="3746500"/>
            <a:ext cx="2921000" cy="1143000"/>
          </a:xfrm>
          <a:prstGeom prst="roundRect">
            <a:avLst>
              <a:gd name="adj" fmla="val 5555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762500" y="3835400"/>
            <a:ext cx="26670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client = Minio("ip:9000",</a:t>
            </a: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access_key="admin",</a:t>
            </a: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secure=False)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35500" y="5016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配置服务地址与密钥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开发环境建议关闭HTTPS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0" y="1651000"/>
            <a:ext cx="3302000" cy="4191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207500" y="1968500"/>
            <a:ext cx="1143000" cy="1143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474200" y="2235200"/>
            <a:ext cx="609600" cy="609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318500" y="3238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上传模型文件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18500" y="3746500"/>
            <a:ext cx="2921000" cy="1143000"/>
          </a:xfrm>
          <a:prstGeom prst="roundRect">
            <a:avLst>
              <a:gd name="adj" fmla="val 5555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445500" y="3835400"/>
            <a:ext cx="26670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client.fput_object(</a:t>
            </a: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"ml-models", "obj.pth",</a:t>
            </a: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"/local/path.pth")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18500" y="5016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指定存储桶与目标路径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自动处理大文件分片上传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0" y="6223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0" y="6223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核心流程：安装环境 → 建立连接 → 执行上传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000" r="2000" t="1957" b="195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SDK：模型文件的下载与读取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95400"/>
            <a:ext cx="1016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cmpd="sng" cap="flat">
            <a:solidFill>
              <a:srgbClr val="2EC5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14500"/>
            <a:ext cx="5207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714500"/>
            <a:ext cx="5207000" cy="76200"/>
          </a:xfrm>
          <a:prstGeom prst="roundRect">
            <a:avLst>
              <a:gd name="adj" fmla="val 0"/>
            </a:avLst>
          </a:prstGeom>
          <a:solidFill>
            <a:srgbClr val="9CA3A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79500" y="2095500"/>
            <a:ext cx="711200" cy="711200"/>
          </a:xfrm>
          <a:prstGeom prst="ellipse">
            <a:avLst/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31900" y="22479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968500" y="21336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方式一：下载至本地文件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968500" y="2540000"/>
            <a:ext cx="368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需磁盘IO，适合大文件或需持久化场景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79500" y="2984500"/>
            <a:ext cx="4572000" cy="2095500"/>
          </a:xfrm>
          <a:prstGeom prst="roundRect">
            <a:avLst>
              <a:gd name="adj" fmla="val 4848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06500" y="3111500"/>
            <a:ext cx="4318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1. 定义本地路径</a:t>
            </a:r>
            <a:r>
              <a:rPr lang="en-US" b="false" i="false" strike="noStrike" u="none" sz="11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path = "/tmp/model.pth"</a:t>
            </a:r>
            <a:r>
              <a:rPr lang="en-US" b="false" i="false" strike="noStrike" u="none" sz="11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2. 调用下载接口</a:t>
            </a:r>
            <a:r>
              <a:rPr lang="en-US" b="false" i="false" strike="noStrike" u="none" sz="11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client.fget_object(bucket, obj_name, path)</a:t>
            </a:r>
            <a:r>
              <a:rPr lang="en-US" b="false" i="false" strike="noStrike" u="none" sz="11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3. 加载本地文件</a:t>
            </a:r>
            <a:r>
              <a:rPr lang="en-US" b="false" i="false" strike="noStrike" u="none" sz="11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model = torch.load(path)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1714500"/>
            <a:ext cx="5207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4ADE80">
                <a:alpha val="30000"/>
              </a:srgbClr>
            </a:solidFill>
            <a:prstDash val="solid"/>
            <a:round/>
          </a:ln>
          <a:effectLst>
            <a:outerShdw dir="2700000" dist="101600" blurRad="254000" algn="tl" rotWithShape="false">
              <a:srgbClr val="4ADE8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714500"/>
            <a:ext cx="5207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40500" y="2095500"/>
            <a:ext cx="711200" cy="7112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92900" y="22479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429500" y="21336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方式二：读取字节流（推荐）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429500" y="2540000"/>
            <a:ext cx="368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纯内存操作，无磁盘IO，加载速度更快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540500" y="2984500"/>
            <a:ext cx="4572000" cy="2095500"/>
          </a:xfrm>
          <a:prstGeom prst="roundRect">
            <a:avLst>
              <a:gd name="adj" fmla="val 4848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67500" y="3111500"/>
            <a:ext cx="4318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15803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1. 获取响应对象</a:t>
            </a:r>
            <a:r>
              <a:rPr lang="en-US" b="false" i="false" strike="noStrike" u="none" sz="1100">
                <a:solidFill>
                  <a:srgbClr val="15803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15803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resp = client.get_object(bucket, obj_name)</a:t>
            </a:r>
            <a:r>
              <a:rPr lang="en-US" b="false" i="false" strike="noStrike" u="none" sz="1100">
                <a:solidFill>
                  <a:srgbClr val="15803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15803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2. 读取为字节流并转BytesIO</a:t>
            </a:r>
            <a:r>
              <a:rPr lang="en-US" b="false" i="false" strike="noStrike" u="none" sz="1100">
                <a:solidFill>
                  <a:srgbClr val="15803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15803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 = resp.read()</a:t>
            </a:r>
            <a:r>
              <a:rPr lang="en-US" b="false" i="false" strike="noStrike" u="none" sz="1100">
                <a:solidFill>
                  <a:srgbClr val="15803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15803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file = io.BytesIO(data)</a:t>
            </a:r>
            <a:r>
              <a:rPr lang="en-US" b="false" i="false" strike="noStrike" u="none" sz="1100">
                <a:solidFill>
                  <a:srgbClr val="15803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15803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3. 直接加载至内存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6121400"/>
            <a:ext cx="10668000" cy="482600"/>
          </a:xfrm>
          <a:prstGeom prst="roundRect">
            <a:avLst>
              <a:gd name="adj" fmla="val 42105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核心建议：在推理服务部署中，优先使用“字节流读取”以最大化性能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4545" r="4545" t="4545" b="454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7366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98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2095500"/>
            <a:ext cx="889000" cy="889000"/>
          </a:xfrm>
          <a:prstGeom prst="roundRect">
            <a:avLst>
              <a:gd name="adj" fmla="val 28571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184400"/>
            <a:ext cx="889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286000" y="2222500"/>
            <a:ext cx="546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进阶管理——常用命令与最佳实践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3302000"/>
            <a:ext cx="6604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683000"/>
            <a:ext cx="660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深入掌握 MinIO 命令行工具 `mc` 的核心操作，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解析企业级生产环境下的配置管理与运维最佳实践方案。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382000" y="1651000"/>
            <a:ext cx="3048000" cy="3810000"/>
          </a:xfrm>
          <a:prstGeom prst="roundRect">
            <a:avLst>
              <a:gd name="adj" fmla="val 4166"/>
            </a:avLst>
          </a:prstGeom>
          <a:solidFill>
            <a:srgbClr val="1F2937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27000" blurRad="254000" algn="tl" rotWithShape="false">
              <a:srgbClr val="00000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017000" y="2413000"/>
            <a:ext cx="1778000" cy="1778000"/>
          </a:xfrm>
          <a:prstGeom prst="ellipse">
            <a:avLst/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334500" y="2730500"/>
            <a:ext cx="1143000" cy="1143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382000" y="4445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MinIO CLI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924" b="3924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MinIO Client (mc) 常用命令速查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3378200" cy="4445000"/>
          </a:xfrm>
          <a:prstGeom prst="roundRect">
            <a:avLst>
              <a:gd name="adj" fmla="val 3759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24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79500" y="1854200"/>
            <a:ext cx="609600" cy="6096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81100" y="19558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816100" y="1930400"/>
            <a:ext cx="215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安装与配置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2667000"/>
            <a:ext cx="2997200" cy="2286000"/>
          </a:xfrm>
          <a:prstGeom prst="roundRect">
            <a:avLst>
              <a:gd name="adj" fmla="val 2777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52400" rIns="152400" tIns="152400" bIns="15240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1. 下载并安装</a:t>
            </a:r>
            <a:r>
              <a:rPr lang="en-US" b="false" i="false" strike="noStrike" u="none" sz="12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endParaRPr lang="en-US" sz="1100"/>
          </a:p>
          <a:p>
            <a:pPr algn="ctr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wget https://dl.min.io/client/mc/release/linux-amd64/mc &amp;&amp; chmod +x mc &amp;&amp; sudo mv mc /usr/local/bin/</a:t>
            </a:r>
            <a:r>
              <a:rPr lang="en-US" b="false" i="false" strike="noStrike" u="none" sz="12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ctr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2. 配置服务器别名</a:t>
            </a:r>
            <a:r>
              <a:rPr lang="en-US" b="false" i="false" strike="noStrike" u="none" sz="12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ctr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mc alias set myminio http://IP:9000 账号 密码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5080000"/>
            <a:ext cx="2997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提示：请替换IP、账号和密码为您的实际MinIO服务信息。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06900" y="1524000"/>
            <a:ext cx="3378200" cy="4445000"/>
          </a:xfrm>
          <a:prstGeom prst="roundRect">
            <a:avLst>
              <a:gd name="adj" fmla="val 3759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06900" y="1524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724400" y="1854200"/>
            <a:ext cx="609600" cy="6096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826000" y="19558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461000" y="1930400"/>
            <a:ext cx="215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核心操作命令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97400" y="2667000"/>
            <a:ext cx="2997200" cy="2921000"/>
          </a:xfrm>
          <a:prstGeom prst="roundRect">
            <a:avLst>
              <a:gd name="adj" fmla="val 2173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90500" rIns="190500" tIns="19050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mc ls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: 列出所有存储桶/对象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mc mb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: 创建新的存储桶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mc cp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: 上传/下载文件 (加 -r 递归)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mc rm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: 删除对象/桶 (谨慎使用)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mc du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: 查看存储占用空间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51800" y="1524000"/>
            <a:ext cx="3378200" cy="4445000"/>
          </a:xfrm>
          <a:prstGeom prst="roundRect">
            <a:avLst>
              <a:gd name="adj" fmla="val 3759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051800" y="1524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69300" y="1854200"/>
            <a:ext cx="609600" cy="6096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70900" y="19558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105900" y="1930400"/>
            <a:ext cx="2159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生产环境最佳实践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42300" y="2667000"/>
            <a:ext cx="2997200" cy="2921000"/>
          </a:xfrm>
          <a:prstGeom prst="roundRect">
            <a:avLst>
              <a:gd name="adj" fmla="val 2173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90500" rIns="190500" tIns="19050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版本控制：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mc version enable 开启，防止误删。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生命周期：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自动清理过期文件，节省空间。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权限管理：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IAM 策略分配最小权限。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传输安全：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务必配置 HTTPS 证书。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000" r="2000" t="1957" b="195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08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667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MLOps 应用价值总结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556000"/>
            <a:ext cx="4064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cmpd="sng" cap="flat">
            <a:solidFill>
              <a:srgbClr val="2EC5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191000"/>
            <a:ext cx="254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727200" y="43815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62000" y="50800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数据可靠性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全链路版本管控与容灾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67100" y="4191000"/>
            <a:ext cx="254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432300" y="43815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467100" y="50800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流程自动化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训练部署流程标准化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172200" y="4191000"/>
            <a:ext cx="254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137400" y="43815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172200" y="50800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成本优化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资源弹性伸缩节省开支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90000" y="4191000"/>
            <a:ext cx="254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855200" y="4381500"/>
            <a:ext cx="609600" cy="609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890000" y="50800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协作效率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研发团队数据无缝衔接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6096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 MinIO 赋能 MLOps 全生命周期效能跃升 ”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394" r="3491" t="3448" b="3448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MLOps 应用价值总结：以 MinIO 为例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cmpd="sng" cap="flat">
            <a:solidFill>
              <a:srgbClr val="2EC5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145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4ADE8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032000"/>
            <a:ext cx="762000" cy="7620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68400" y="2184400"/>
            <a:ext cx="457200" cy="457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968500" y="18415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统一模型资产库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集中存储模型文件、数据集及日志，建立单一可信数据源，告别资产分散。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302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4ADE8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619500"/>
            <a:ext cx="762000" cy="7620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68400" y="37719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968500" y="34290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加速迭代与协作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团队无缝共享最新资产，打破数据孤岛，大幅缩短模型从训练到上线的周期。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8895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4ADE8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207000"/>
            <a:ext cx="762000" cy="7620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68400" y="5359400"/>
            <a:ext cx="457200" cy="4572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968500" y="50165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环境一致性保障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训练、测试、生产环境使用同一套模型文件，彻底避免“在我电脑上能运行”的问题。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17145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4ADE8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2032000"/>
            <a:ext cx="762000" cy="7620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29400" y="2184400"/>
            <a:ext cx="457200" cy="457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429500" y="18415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显著成本效益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相比公有云，自建对象存储可大幅降低海量数据集的长期存储成本，实现资源优化。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3302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4ADE8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3619500"/>
            <a:ext cx="762000" cy="7620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629400" y="3771900"/>
            <a:ext cx="457200" cy="4572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429500" y="34290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数据主权与安全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数据保留在本地基础设施，满足合规要求；提供企业级加密与细粒度权限控制。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23000" y="48895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4ADE8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5207000"/>
            <a:ext cx="762000" cy="7620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629400" y="5359400"/>
            <a:ext cx="457200" cy="4572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7429500" y="50165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MLOps 生态无缝集成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100% S3 兼容，轻松对接 PyTorch、MLflow、Kubeflow 等主流工具链。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0" y="6540500"/>
            <a:ext cx="12192000" cy="317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0" y="6540500"/>
            <a:ext cx="1219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核心价值：高效管理 · 安全合规 · 成本可控 · 生态互联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4545" r="4545" t="4545" b="454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核心数据与关键参数概览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24384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24384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16000" y="2476500"/>
            <a:ext cx="1930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API 服务端口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9000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默认端口，可自定义修改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505200" y="1651000"/>
            <a:ext cx="24384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05200" y="1651000"/>
            <a:ext cx="24384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759200" y="1968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759200" y="2476500"/>
            <a:ext cx="1930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控制台端口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9001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建议通过参数指定地址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48400" y="1651000"/>
            <a:ext cx="24384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48400" y="1651000"/>
            <a:ext cx="24384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502400" y="1968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502400" y="2476500"/>
            <a:ext cx="1930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最小密码长度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8 字符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MinIO 强制安全要求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991600" y="1651000"/>
            <a:ext cx="24384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991600" y="1651000"/>
            <a:ext cx="24384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245600" y="19685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9245600" y="2476500"/>
            <a:ext cx="19304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纠删码存储开销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~1.5 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8+4配置，优于三副本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3810000"/>
            <a:ext cx="33528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3810000"/>
            <a:ext cx="33528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4127500"/>
            <a:ext cx="457200" cy="4572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587500" y="4127500"/>
            <a:ext cx="241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官方性能基准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读183 / 写171 GB/s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基于标准硬件测试数据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419600" y="3810000"/>
            <a:ext cx="33528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419600" y="3810000"/>
            <a:ext cx="33528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4673600" y="4127500"/>
            <a:ext cx="457200" cy="4572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5245100" y="4127500"/>
            <a:ext cx="241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二进制文件大小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~50 MB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轻量级，极速部署分发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077200" y="3810000"/>
            <a:ext cx="33528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077200" y="3810000"/>
            <a:ext cx="33528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8331200" y="4127500"/>
            <a:ext cx="457200" cy="4572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8902700" y="4127500"/>
            <a:ext cx="241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授权许可证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AGPL v3 / 商业许可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开源协议要求代码透明</a:t>
            </a:r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" y="5715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62000" y="571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核心优势：高性能吞吐 · 极致存储成本 · 极简部署体验 · 企业级安全合规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4716" r="4716" t="4697" b="469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651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  <a:effectLst>
            <a:outerShdw dir="2700000" dist="0" blurRad="190500" algn="tl" rotWithShape="false">
              <a:srgbClr val="4ADE80">
                <a:alpha val="50000"/>
              </a:srgbClr>
            </a:outerShdw>
          </a:effectLst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 spc="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 互动问答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667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 spc="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 for Listening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689600" y="3556000"/>
            <a:ext cx="812800" cy="812800"/>
          </a:xfrm>
          <a:prstGeom prst="rect">
            <a:avLst/>
          </a:prstGeom>
          <a:effectLst>
            <a:outerShdw dir="2700000" dist="0" blurRad="127000" algn="tl" rotWithShape="false">
              <a:srgbClr val="4ADE80">
                <a:alpha val="60000"/>
              </a:srgbClr>
            </a:outerShdw>
          </a:effectLst>
        </p:spPr>
      </p:pic>
      <p:sp>
        <p:nvSpPr>
          <p:cNvPr name="AutoShape 8" id="8"/>
          <p:cNvSpPr/>
          <p:nvPr/>
        </p:nvSpPr>
        <p:spPr>
          <a:xfrm rot="0" flipH="false" flipV="false">
            <a:off x="1651000" y="46990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关于 MinIO 分布式存储或 MLOps 数据管理的任何疑问</a:t>
            </a:r>
            <a:r>
              <a:rPr lang="en-US" b="false" i="false" strike="noStrike" u="none" sz="16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欢迎各位随时提出，我们一起深入交流探讨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6477000"/>
            <a:ext cx="12192000" cy="381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0" y="6032500"/>
            <a:ext cx="1219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2026 MINIO TECH TALK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